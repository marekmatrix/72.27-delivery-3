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model we use for the whole exercise: a multilayer perceptron written from scratch with numpy.
On the left you see the idea. Each image is 28 by 28 pixels, which we flatten into 784 inputs. Those go through one hidden layer, here 128 sigmoid units, and then into 10 output units, one per digit. The predicted digit is simply the output unit with the highest value.
Every layer is a weight matrix. The forward pass is h = W times V plus b, followed by the activation. Backpropagation sends the error back with W transposed times delta, multiplied by the derivative of the activation.
We put the samples of a batch in the columns of the input matrix, so a whole batch goes through a layer in one matrix product. That is why a 60-epoch run takes seconds instead of minutes.
To make sure the implementation is right we wrote tests: we check backpropagation against a numerical derivative, against one step we calculated by hand for the 2-2-1 network, and we check that both 2-2-1 and 2-3-2-1 learn XOR.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2a: how do we evaluate the system?
The top row is our protocol. digits.csv is the only data we learn from. We split it once, 80 percent for training and 20 percent for validation. Training fits the weights; validation is what we use to compare variants and pick hyperparameters. Every variant is trained with three different seeds, and we compare the mean.
digits_test.csv plays the role of production. We use it exactly once, on the single model we picked on validation. If we looked at it while tuning, it would stop being an honest estimate of the real world.
For metrics: accuracy is the client's own target, so it is the main number. But accuracy alone can hide a digit the model never gets right, so we also look at recall per class and at the confusion matrix. And we track the training and validation loss every epoch, to see whether the model converges and whether it starts to overfit.
As a preview: the final model scores 96.9 percent on validation and 86.4 percent on the test set, both averaged over three seeds. We will explain that gap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2b: which variants did we try? We changed one thing at a time, starting from the same baseline, and the first one is the learning rate, with plain gradient descent.
On the left is the validation loss per epoch, on a log scale. With 0.01 the curve is still going down after 60 epochs: it learns, but far too slowly. 0.1 is better, and 0.5 and 1 converge fastest and end around 96 percent accuracy, as the bar chart shows.
The interesting case is 3.0. The line is flat at the top: the loss is stuck at 0.5 from the second epoch. What happens is that the first updates are so large that the sigmoid units saturate. Their outputs are pinned at 0 or 1, the derivative of the sigmoid is practically zero there, and so no gradient flows back. The network stops learning completely: the three seeds ended at 0, 12 and 2 percent, which is chance level or worse.
So the learning rate has a window: too small wastes epochs, too large kills the gradient. We kept 0.5 as the baseline for the other studies, and the final model uses 1.0, the other value at the top of that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architecture. We tried one hidden layer of 16, 32, 64, 128 and 256 units, and two networks with two hidden layers.
Going from 16 to 128 units, the validation accuracy goes up steadily, from 94.5 to 96.6 percent. Adding a second hidden layer did not help: 64-32 and 128-64 are no better than a single layer of 128.
256 units looks bad in the chart, but look at the error bar. Two of the three seeds reached about 96.5 percent; one seed collapsed to 14 percent. That is the same saturation problem as the large learning rate: with more inputs feeding each output unit, the outputs saturate more easily at this learning rate. So a bigger network is not automatically better; it also needs a matching learning rate.
The chart on the right shows the cost. Time per epoch grows with the number of weights, from about 0.03 seconds for 16 units to almost 0.2 for 256. 128 units gave the best accuracy for a reasonable cost, and it became our final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the optimization method. We compared plain gradient descent, momentum and Adam.
They do not share one learning rate: each rule scales its step differently, so we gave each one a rate that suits it. Momentum with alpha 0.9 accumulates roughly ten times the step, so 0.05 for momentum is about the same as 0.5 for gradient descent. Adam normalises the gradient, so its usual value is 0.001.
Gradient descent and Adam follow almost the same loss curve and end at the same accuracy, 96.1 percent.
Momentum behaves differently. In the loss plot you see long flat plateaus followed by sudden drops: the output units are saturated for a while and then escape. In one seed two of the output units never escaped, which means the network never predicts those two digits, and it ends at 74 percent.
So for this problem the optimizer mattered less than the learning rate, and the main risk with momentum here is the extra speed pushing units into saturation.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batch size, which is how we choose between online, mini-batch and batch training. Batch 1 is online learning: one update per sample.
The key to this chart is the number of weight updates per epoch, which is the training set size divided by the batch size: almost 10,000 updates for online, only 20 for batch 512.
The chart on the right shows that online learning is by far the slowest per epoch, about one second, because each update is a tiny matrix product and Python overhead dominates. It is also the noisiest: the error bar is the widest.
Batch 512 is the fastest per epoch, but with only 20 updates per epoch it simply has not converged after 60 epochs, so it ends lowest at 94 percent.
Batch 8 gave the best accuracy, 96.5 percent: many updates per epoch, while still using matrix operations. Batch 32 is close, at 96.1, and more than twice as fast per epoch, but accuracy is the client's target, so the final model uses batch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final model. We combined the winner of each study: a learning rate of 1.0 from the top of the learning-rate window, one hidden layer of 128 units, and batch size 8. That combination is better than any single variant from the studies, and it is also the configuration Exercise 3 starts from. We trained it with three seeds and evaluated it once on digits_test.csv, our stand-in for production.
On validation it scores 96.9 percent, plus or minus 0.2 over the three seeds. On the test set it drops to 86.4 percent. The confusion matrix shows where the drop comes from. Every row is close to perfect except one: the row for digit 8 has zero on the diagonal. The model never predicts an 8.
The reason is simple: there is not a single 8 in digits.csv. The network has no output that was ever trained to fire for an 8. 243 of the test images are eights, almost 10 percent, so the best accuracy this model could ever reach on this test set is 90.3 percent, whatever we tune.
If we leave the eights out, the test accuracy is 95.8 percent, close to validation, so the model itself generalises well.
The second weakest digit is 5, with 82 to 86 percent recall depending on the seed, which you can see in the recall chart on the right. As the next slide shows, 5 is also the digit with the fewest training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the gap? It is a data problem, not a model problem.
The chart compares how often each digit appears. In the test set every digit is about 10 percent. In digits.csv, 8 is completely missing and 5 has only 271 images, about 2 percent, against around 1,500 for every other digit.
At the bottom are real test images labelled 8, with what our model predicted. They are clear eights to a human, but the network can only answer with digits it has seen, so it picks the closest shape it knows: mostly 3, then 5, 9 or 2. That matches the confusion matrix on the previous slide.
No learning rate, architecture or optimizer can fix this: you cannot learn a class you have never seen. That is exactly the point of Exercise 3, where the new data in more_digits.csv includes eights and many more fives. Part of the improvement there will come from the data, not only from our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X2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6355080"/>
            <a:ext cx="9966960" cy="0"/>
          </a:xfrm>
          <a:prstGeom prst="line">
            <a:avLst/>
          </a:prstGeom>
          <a:noFill/>
          <a:ln w="9525">
            <a:solidFill>
              <a:srgbClr val="A5A5A5"/>
            </a:solidFill>
            <a:prstDash val="solid"/>
          </a:ln>
        </p:spPr>
      </p:sp>
      <p:sp>
        <p:nvSpPr>
          <p:cNvPr id="3" name="Text 1"/>
          <p:cNvSpPr/>
          <p:nvPr/>
        </p:nvSpPr>
        <p:spPr>
          <a:xfrm>
            <a:off x="10744200" y="6217920"/>
            <a:ext cx="822960" cy="274320"/>
          </a:xfrm>
          <a:prstGeom prst="rect">
            <a:avLst/>
          </a:prstGeom>
          <a:noFill/>
          <a:ln/>
        </p:spPr>
        <p:txBody>
          <a:bodyPr wrap="square" lIns="0" tIns="0" rIns="0" bIns="0" rtlCol="0" anchor="ctr"/>
          <a:lstStyle/>
          <a:p>
            <a:pPr algn="r" indent="0" marL="0">
              <a:buNone/>
            </a:pPr>
            <a:r>
              <a:rPr lang="en-US" sz="800" dirty="0">
                <a:solidFill>
                  <a:srgbClr val="7F7F7F"/>
                </a:solidFill>
              </a:rPr>
              <a:t>10/4/2026</a:t>
            </a:r>
            <a:endParaRPr lang="en-US" sz="800" dirty="0"/>
          </a:p>
        </p:txBody>
      </p:sp>
      <p:sp>
        <p:nvSpPr>
          <p:cNvPr id="4" name="Text 2"/>
          <p:cNvSpPr/>
          <p:nvPr>
            <p:ph idx="102" type="title" hasCustomPrompt="1"/>
          </p:nvPr>
        </p:nvSpPr>
        <p:spPr>
          <a:xfrm>
            <a:off x="457200" y="274320"/>
            <a:ext cx="11247120" cy="548640"/>
          </a:xfrm>
          <a:prstGeom prst="rect">
            <a:avLst/>
          </a:prstGeom>
          <a:noFill/>
          <a:ln/>
        </p:spPr>
        <p:txBody>
          <a:bodyPr wrap="square" rtlCol="0"/>
          <a:lstStyle>
            <a:lvl1pPr algn="l" indent="0" marL="0">
              <a:buNone/>
              <a:defRPr lang="en-US" sz="2400" dirty="0">
                <a:solidFill>
                  <a:schemeClr val="tx2"/>
                </a:solidFill>
                <a:latin typeface="Arial Narrow" pitchFamily="34" charset="0"/>
                <a:ea typeface="Arial Narrow" pitchFamily="34" charset="-122"/>
                <a:cs typeface="Arial Narrow"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658600" y="6217920"/>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7F7F7F"/>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217920"/>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7F7F7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11247120" cy="548640"/>
          </a:xfrm>
          <a:prstGeom prst="rect">
            <a:avLst/>
          </a:prstGeom>
          <a:noFill/>
          <a:ln/>
        </p:spPr>
        <p:txBody>
          <a:bodyPr wrap="square" lIns="0" tIns="0" rIns="0" bIns="0" rtlCol="0" anchor="t"/>
          <a:lstStyle/>
          <a:p>
            <a:pPr algn="l" indent="0" marL="0">
              <a:buNone/>
            </a:pPr>
            <a:r>
              <a:rPr lang="en-US" sz="2400" b="1" dirty="0">
                <a:solidFill>
                  <a:schemeClr val="tx2"/>
                </a:solidFill>
                <a:latin typeface="Arial Narrow" pitchFamily="34" charset="0"/>
                <a:ea typeface="Arial Narrow" pitchFamily="34" charset="-122"/>
                <a:cs typeface="Arial Narrow" pitchFamily="34" charset="-120"/>
              </a:rPr>
              <a:t>2: </a:t>
            </a:r>
            <a:pPr algn="l" indent="0" marL="0">
              <a:buNone/>
            </a:pPr>
            <a:r>
              <a:rPr lang="en-US" sz="2400" dirty="0">
                <a:solidFill>
                  <a:srgbClr val="595959"/>
                </a:solidFill>
                <a:latin typeface="Arial Narrow" pitchFamily="34" charset="0"/>
                <a:ea typeface="Arial Narrow" pitchFamily="34" charset="-122"/>
                <a:cs typeface="Arial Narrow" pitchFamily="34" charset="-120"/>
              </a:rPr>
              <a:t>OUR MULTILAYER PERCEPTRON</a:t>
            </a:r>
            <a:endParaRPr lang="en-US" sz="2400" dirty="0"/>
          </a:p>
        </p:txBody>
      </p:sp>
      <p:sp>
        <p:nvSpPr>
          <p:cNvPr id="3" name="Text 1"/>
          <p:cNvSpPr txBox="1"/>
          <p:nvPr/>
        </p:nvSpPr>
        <p:spPr>
          <a:xfrm>
            <a:off x="457200" y="868680"/>
            <a:ext cx="11247120" cy="411480"/>
          </a:xfrm>
          <a:prstGeom prst="rect">
            <a:avLst/>
          </a:prstGeom>
          <a:noFill/>
          <a:ln/>
        </p:spPr>
        <p:txBody>
          <a:bodyPr wrap="square" lIns="0" tIns="0" rIns="0" bIns="0" rtlCol="0" anchor="ctr"/>
          <a:lstStyle/>
          <a:p>
            <a:pPr indent="0" marL="0">
              <a:buNone/>
            </a:pPr>
            <a:r>
              <a:rPr lang="en-US" sz="1800" b="1" dirty="0">
                <a:solidFill>
                  <a:srgbClr val="404040"/>
                </a:solidFill>
              </a:rPr>
              <a:t>Built from scratch with numpy, fully vectorized</a:t>
            </a:r>
            <a:endParaRPr lang="en-US" sz="1800" dirty="0"/>
          </a:p>
        </p:txBody>
      </p:sp>
      <p:sp>
        <p:nvSpPr>
          <p:cNvPr id="5" name="Shape 2"/>
          <p:cNvSpPr/>
          <p:nvPr/>
        </p:nvSpPr>
        <p:spPr>
          <a:xfrm flipV="1">
            <a:off x="2057400" y="1828800"/>
            <a:ext cx="1920240" cy="45720"/>
          </a:xfrm>
          <a:prstGeom prst="line">
            <a:avLst/>
          </a:prstGeom>
          <a:noFill/>
          <a:ln w="6350">
            <a:solidFill>
              <a:srgbClr val="C9CEC6"/>
            </a:solidFill>
            <a:prstDash val="solid"/>
          </a:ln>
        </p:spPr>
      </p:sp>
      <p:sp>
        <p:nvSpPr>
          <p:cNvPr id="6" name="Shape 3"/>
          <p:cNvSpPr/>
          <p:nvPr/>
        </p:nvSpPr>
        <p:spPr>
          <a:xfrm>
            <a:off x="2057400" y="1874520"/>
            <a:ext cx="1920240" cy="502920"/>
          </a:xfrm>
          <a:prstGeom prst="line">
            <a:avLst/>
          </a:prstGeom>
          <a:noFill/>
          <a:ln w="6350">
            <a:solidFill>
              <a:srgbClr val="C9CEC6"/>
            </a:solidFill>
            <a:prstDash val="solid"/>
          </a:ln>
        </p:spPr>
      </p:sp>
      <p:sp>
        <p:nvSpPr>
          <p:cNvPr id="7" name="Shape 4"/>
          <p:cNvSpPr/>
          <p:nvPr/>
        </p:nvSpPr>
        <p:spPr>
          <a:xfrm>
            <a:off x="2057400" y="1874520"/>
            <a:ext cx="1920240" cy="1051560"/>
          </a:xfrm>
          <a:prstGeom prst="line">
            <a:avLst/>
          </a:prstGeom>
          <a:noFill/>
          <a:ln w="6350">
            <a:solidFill>
              <a:srgbClr val="C9CEC6"/>
            </a:solidFill>
            <a:prstDash val="solid"/>
          </a:ln>
        </p:spPr>
      </p:sp>
      <p:sp>
        <p:nvSpPr>
          <p:cNvPr id="8" name="Shape 5"/>
          <p:cNvSpPr/>
          <p:nvPr/>
        </p:nvSpPr>
        <p:spPr>
          <a:xfrm>
            <a:off x="2057400" y="1874520"/>
            <a:ext cx="1920240" cy="1600200"/>
          </a:xfrm>
          <a:prstGeom prst="line">
            <a:avLst/>
          </a:prstGeom>
          <a:noFill/>
          <a:ln w="6350">
            <a:solidFill>
              <a:srgbClr val="C9CEC6"/>
            </a:solidFill>
            <a:prstDash val="solid"/>
          </a:ln>
        </p:spPr>
      </p:sp>
      <p:sp>
        <p:nvSpPr>
          <p:cNvPr id="9" name="Shape 6"/>
          <p:cNvSpPr/>
          <p:nvPr/>
        </p:nvSpPr>
        <p:spPr>
          <a:xfrm>
            <a:off x="2057400" y="1874520"/>
            <a:ext cx="1920240" cy="2148840"/>
          </a:xfrm>
          <a:prstGeom prst="line">
            <a:avLst/>
          </a:prstGeom>
          <a:noFill/>
          <a:ln w="6350">
            <a:solidFill>
              <a:srgbClr val="C9CEC6"/>
            </a:solidFill>
            <a:prstDash val="solid"/>
          </a:ln>
        </p:spPr>
      </p:sp>
      <p:sp>
        <p:nvSpPr>
          <p:cNvPr id="10" name="Shape 7"/>
          <p:cNvSpPr/>
          <p:nvPr/>
        </p:nvSpPr>
        <p:spPr>
          <a:xfrm>
            <a:off x="2057400" y="1874520"/>
            <a:ext cx="1920240" cy="2697480"/>
          </a:xfrm>
          <a:prstGeom prst="line">
            <a:avLst/>
          </a:prstGeom>
          <a:noFill/>
          <a:ln w="6350">
            <a:solidFill>
              <a:srgbClr val="C9CEC6"/>
            </a:solidFill>
            <a:prstDash val="solid"/>
          </a:ln>
        </p:spPr>
      </p:sp>
      <p:sp>
        <p:nvSpPr>
          <p:cNvPr id="11" name="Shape 8"/>
          <p:cNvSpPr/>
          <p:nvPr/>
        </p:nvSpPr>
        <p:spPr>
          <a:xfrm>
            <a:off x="2057400" y="1874520"/>
            <a:ext cx="1920240" cy="3246120"/>
          </a:xfrm>
          <a:prstGeom prst="line">
            <a:avLst/>
          </a:prstGeom>
          <a:noFill/>
          <a:ln w="6350">
            <a:solidFill>
              <a:srgbClr val="C9CEC6"/>
            </a:solidFill>
            <a:prstDash val="solid"/>
          </a:ln>
        </p:spPr>
      </p:sp>
      <p:sp>
        <p:nvSpPr>
          <p:cNvPr id="12" name="Shape 9"/>
          <p:cNvSpPr/>
          <p:nvPr/>
        </p:nvSpPr>
        <p:spPr>
          <a:xfrm flipV="1">
            <a:off x="2057400" y="1828800"/>
            <a:ext cx="1920240" cy="685800"/>
          </a:xfrm>
          <a:prstGeom prst="line">
            <a:avLst/>
          </a:prstGeom>
          <a:noFill/>
          <a:ln w="6350">
            <a:solidFill>
              <a:srgbClr val="C9CEC6"/>
            </a:solidFill>
            <a:prstDash val="solid"/>
          </a:ln>
        </p:spPr>
      </p:sp>
      <p:sp>
        <p:nvSpPr>
          <p:cNvPr id="13" name="Shape 10"/>
          <p:cNvSpPr/>
          <p:nvPr/>
        </p:nvSpPr>
        <p:spPr>
          <a:xfrm flipV="1">
            <a:off x="2057400" y="2377440"/>
            <a:ext cx="1920240" cy="137160"/>
          </a:xfrm>
          <a:prstGeom prst="line">
            <a:avLst/>
          </a:prstGeom>
          <a:noFill/>
          <a:ln w="6350">
            <a:solidFill>
              <a:srgbClr val="C9CEC6"/>
            </a:solidFill>
            <a:prstDash val="solid"/>
          </a:ln>
        </p:spPr>
      </p:sp>
      <p:sp>
        <p:nvSpPr>
          <p:cNvPr id="14" name="Shape 11"/>
          <p:cNvSpPr/>
          <p:nvPr/>
        </p:nvSpPr>
        <p:spPr>
          <a:xfrm>
            <a:off x="2057400" y="2514600"/>
            <a:ext cx="1920240" cy="411480"/>
          </a:xfrm>
          <a:prstGeom prst="line">
            <a:avLst/>
          </a:prstGeom>
          <a:noFill/>
          <a:ln w="6350">
            <a:solidFill>
              <a:srgbClr val="C9CEC6"/>
            </a:solidFill>
            <a:prstDash val="solid"/>
          </a:ln>
        </p:spPr>
      </p:sp>
      <p:sp>
        <p:nvSpPr>
          <p:cNvPr id="15" name="Shape 12"/>
          <p:cNvSpPr/>
          <p:nvPr/>
        </p:nvSpPr>
        <p:spPr>
          <a:xfrm>
            <a:off x="2057400" y="2514600"/>
            <a:ext cx="1920240" cy="960120"/>
          </a:xfrm>
          <a:prstGeom prst="line">
            <a:avLst/>
          </a:prstGeom>
          <a:noFill/>
          <a:ln w="6350">
            <a:solidFill>
              <a:srgbClr val="C9CEC6"/>
            </a:solidFill>
            <a:prstDash val="solid"/>
          </a:ln>
        </p:spPr>
      </p:sp>
      <p:sp>
        <p:nvSpPr>
          <p:cNvPr id="16" name="Shape 13"/>
          <p:cNvSpPr/>
          <p:nvPr/>
        </p:nvSpPr>
        <p:spPr>
          <a:xfrm>
            <a:off x="2057400" y="2514600"/>
            <a:ext cx="1920240" cy="1508760"/>
          </a:xfrm>
          <a:prstGeom prst="line">
            <a:avLst/>
          </a:prstGeom>
          <a:noFill/>
          <a:ln w="6350">
            <a:solidFill>
              <a:srgbClr val="C9CEC6"/>
            </a:solidFill>
            <a:prstDash val="solid"/>
          </a:ln>
        </p:spPr>
      </p:sp>
      <p:sp>
        <p:nvSpPr>
          <p:cNvPr id="17" name="Shape 14"/>
          <p:cNvSpPr/>
          <p:nvPr/>
        </p:nvSpPr>
        <p:spPr>
          <a:xfrm>
            <a:off x="2057400" y="2514600"/>
            <a:ext cx="1920240" cy="2057400"/>
          </a:xfrm>
          <a:prstGeom prst="line">
            <a:avLst/>
          </a:prstGeom>
          <a:noFill/>
          <a:ln w="6350">
            <a:solidFill>
              <a:srgbClr val="C9CEC6"/>
            </a:solidFill>
            <a:prstDash val="solid"/>
          </a:ln>
        </p:spPr>
      </p:sp>
      <p:sp>
        <p:nvSpPr>
          <p:cNvPr id="18" name="Shape 15"/>
          <p:cNvSpPr/>
          <p:nvPr/>
        </p:nvSpPr>
        <p:spPr>
          <a:xfrm>
            <a:off x="2057400" y="2514600"/>
            <a:ext cx="1920240" cy="2606040"/>
          </a:xfrm>
          <a:prstGeom prst="line">
            <a:avLst/>
          </a:prstGeom>
          <a:noFill/>
          <a:ln w="6350">
            <a:solidFill>
              <a:srgbClr val="C9CEC6"/>
            </a:solidFill>
            <a:prstDash val="solid"/>
          </a:ln>
        </p:spPr>
      </p:sp>
      <p:sp>
        <p:nvSpPr>
          <p:cNvPr id="19" name="Shape 16"/>
          <p:cNvSpPr/>
          <p:nvPr/>
        </p:nvSpPr>
        <p:spPr>
          <a:xfrm flipV="1">
            <a:off x="2057400" y="1828800"/>
            <a:ext cx="1920240" cy="1325880"/>
          </a:xfrm>
          <a:prstGeom prst="line">
            <a:avLst/>
          </a:prstGeom>
          <a:noFill/>
          <a:ln w="6350">
            <a:solidFill>
              <a:srgbClr val="C9CEC6"/>
            </a:solidFill>
            <a:prstDash val="solid"/>
          </a:ln>
        </p:spPr>
      </p:sp>
      <p:sp>
        <p:nvSpPr>
          <p:cNvPr id="20" name="Shape 17"/>
          <p:cNvSpPr/>
          <p:nvPr/>
        </p:nvSpPr>
        <p:spPr>
          <a:xfrm flipV="1">
            <a:off x="2057400" y="2377440"/>
            <a:ext cx="1920240" cy="777240"/>
          </a:xfrm>
          <a:prstGeom prst="line">
            <a:avLst/>
          </a:prstGeom>
          <a:noFill/>
          <a:ln w="6350">
            <a:solidFill>
              <a:srgbClr val="C9CEC6"/>
            </a:solidFill>
            <a:prstDash val="solid"/>
          </a:ln>
        </p:spPr>
      </p:sp>
      <p:sp>
        <p:nvSpPr>
          <p:cNvPr id="21" name="Shape 18"/>
          <p:cNvSpPr/>
          <p:nvPr/>
        </p:nvSpPr>
        <p:spPr>
          <a:xfrm flipV="1">
            <a:off x="2057400" y="2926080"/>
            <a:ext cx="1920240" cy="228600"/>
          </a:xfrm>
          <a:prstGeom prst="line">
            <a:avLst/>
          </a:prstGeom>
          <a:noFill/>
          <a:ln w="6350">
            <a:solidFill>
              <a:srgbClr val="C9CEC6"/>
            </a:solidFill>
            <a:prstDash val="solid"/>
          </a:ln>
        </p:spPr>
      </p:sp>
      <p:sp>
        <p:nvSpPr>
          <p:cNvPr id="22" name="Shape 19"/>
          <p:cNvSpPr/>
          <p:nvPr/>
        </p:nvSpPr>
        <p:spPr>
          <a:xfrm>
            <a:off x="2057400" y="3154680"/>
            <a:ext cx="1920240" cy="320040"/>
          </a:xfrm>
          <a:prstGeom prst="line">
            <a:avLst/>
          </a:prstGeom>
          <a:noFill/>
          <a:ln w="6350">
            <a:solidFill>
              <a:srgbClr val="C9CEC6"/>
            </a:solidFill>
            <a:prstDash val="solid"/>
          </a:ln>
        </p:spPr>
      </p:sp>
      <p:sp>
        <p:nvSpPr>
          <p:cNvPr id="23" name="Shape 20"/>
          <p:cNvSpPr/>
          <p:nvPr/>
        </p:nvSpPr>
        <p:spPr>
          <a:xfrm>
            <a:off x="2057400" y="3154680"/>
            <a:ext cx="1920240" cy="868680"/>
          </a:xfrm>
          <a:prstGeom prst="line">
            <a:avLst/>
          </a:prstGeom>
          <a:noFill/>
          <a:ln w="6350">
            <a:solidFill>
              <a:srgbClr val="C9CEC6"/>
            </a:solidFill>
            <a:prstDash val="solid"/>
          </a:ln>
        </p:spPr>
      </p:sp>
      <p:sp>
        <p:nvSpPr>
          <p:cNvPr id="24" name="Shape 21"/>
          <p:cNvSpPr/>
          <p:nvPr/>
        </p:nvSpPr>
        <p:spPr>
          <a:xfrm>
            <a:off x="2057400" y="3154680"/>
            <a:ext cx="1920240" cy="1417320"/>
          </a:xfrm>
          <a:prstGeom prst="line">
            <a:avLst/>
          </a:prstGeom>
          <a:noFill/>
          <a:ln w="6350">
            <a:solidFill>
              <a:srgbClr val="C9CEC6"/>
            </a:solidFill>
            <a:prstDash val="solid"/>
          </a:ln>
        </p:spPr>
      </p:sp>
      <p:sp>
        <p:nvSpPr>
          <p:cNvPr id="25" name="Shape 22"/>
          <p:cNvSpPr/>
          <p:nvPr/>
        </p:nvSpPr>
        <p:spPr>
          <a:xfrm>
            <a:off x="2057400" y="3154680"/>
            <a:ext cx="1920240" cy="1965960"/>
          </a:xfrm>
          <a:prstGeom prst="line">
            <a:avLst/>
          </a:prstGeom>
          <a:noFill/>
          <a:ln w="6350">
            <a:solidFill>
              <a:srgbClr val="C9CEC6"/>
            </a:solidFill>
            <a:prstDash val="solid"/>
          </a:ln>
        </p:spPr>
      </p:sp>
      <p:sp>
        <p:nvSpPr>
          <p:cNvPr id="26" name="Shape 23"/>
          <p:cNvSpPr/>
          <p:nvPr/>
        </p:nvSpPr>
        <p:spPr>
          <a:xfrm flipV="1">
            <a:off x="2057400" y="1828800"/>
            <a:ext cx="1920240" cy="1965960"/>
          </a:xfrm>
          <a:prstGeom prst="line">
            <a:avLst/>
          </a:prstGeom>
          <a:noFill/>
          <a:ln w="6350">
            <a:solidFill>
              <a:srgbClr val="C9CEC6"/>
            </a:solidFill>
            <a:prstDash val="solid"/>
          </a:ln>
        </p:spPr>
      </p:sp>
      <p:sp>
        <p:nvSpPr>
          <p:cNvPr id="27" name="Shape 24"/>
          <p:cNvSpPr/>
          <p:nvPr/>
        </p:nvSpPr>
        <p:spPr>
          <a:xfrm flipV="1">
            <a:off x="2057400" y="2377440"/>
            <a:ext cx="1920240" cy="1417320"/>
          </a:xfrm>
          <a:prstGeom prst="line">
            <a:avLst/>
          </a:prstGeom>
          <a:noFill/>
          <a:ln w="6350">
            <a:solidFill>
              <a:srgbClr val="C9CEC6"/>
            </a:solidFill>
            <a:prstDash val="solid"/>
          </a:ln>
        </p:spPr>
      </p:sp>
      <p:sp>
        <p:nvSpPr>
          <p:cNvPr id="28" name="Shape 25"/>
          <p:cNvSpPr/>
          <p:nvPr/>
        </p:nvSpPr>
        <p:spPr>
          <a:xfrm flipV="1">
            <a:off x="2057400" y="2926080"/>
            <a:ext cx="1920240" cy="868680"/>
          </a:xfrm>
          <a:prstGeom prst="line">
            <a:avLst/>
          </a:prstGeom>
          <a:noFill/>
          <a:ln w="6350">
            <a:solidFill>
              <a:srgbClr val="C9CEC6"/>
            </a:solidFill>
            <a:prstDash val="solid"/>
          </a:ln>
        </p:spPr>
      </p:sp>
      <p:sp>
        <p:nvSpPr>
          <p:cNvPr id="29" name="Shape 26"/>
          <p:cNvSpPr/>
          <p:nvPr/>
        </p:nvSpPr>
        <p:spPr>
          <a:xfrm flipV="1">
            <a:off x="2057400" y="3474720"/>
            <a:ext cx="1920240" cy="320040"/>
          </a:xfrm>
          <a:prstGeom prst="line">
            <a:avLst/>
          </a:prstGeom>
          <a:noFill/>
          <a:ln w="6350">
            <a:solidFill>
              <a:srgbClr val="C9CEC6"/>
            </a:solidFill>
            <a:prstDash val="solid"/>
          </a:ln>
        </p:spPr>
      </p:sp>
      <p:sp>
        <p:nvSpPr>
          <p:cNvPr id="30" name="Shape 27"/>
          <p:cNvSpPr/>
          <p:nvPr/>
        </p:nvSpPr>
        <p:spPr>
          <a:xfrm>
            <a:off x="2057400" y="3794760"/>
            <a:ext cx="1920240" cy="228600"/>
          </a:xfrm>
          <a:prstGeom prst="line">
            <a:avLst/>
          </a:prstGeom>
          <a:noFill/>
          <a:ln w="6350">
            <a:solidFill>
              <a:srgbClr val="C9CEC6"/>
            </a:solidFill>
            <a:prstDash val="solid"/>
          </a:ln>
        </p:spPr>
      </p:sp>
      <p:sp>
        <p:nvSpPr>
          <p:cNvPr id="31" name="Shape 28"/>
          <p:cNvSpPr/>
          <p:nvPr/>
        </p:nvSpPr>
        <p:spPr>
          <a:xfrm>
            <a:off x="2057400" y="3794760"/>
            <a:ext cx="1920240" cy="777240"/>
          </a:xfrm>
          <a:prstGeom prst="line">
            <a:avLst/>
          </a:prstGeom>
          <a:noFill/>
          <a:ln w="6350">
            <a:solidFill>
              <a:srgbClr val="C9CEC6"/>
            </a:solidFill>
            <a:prstDash val="solid"/>
          </a:ln>
        </p:spPr>
      </p:sp>
      <p:sp>
        <p:nvSpPr>
          <p:cNvPr id="32" name="Shape 29"/>
          <p:cNvSpPr/>
          <p:nvPr/>
        </p:nvSpPr>
        <p:spPr>
          <a:xfrm>
            <a:off x="2057400" y="3794760"/>
            <a:ext cx="1920240" cy="1325880"/>
          </a:xfrm>
          <a:prstGeom prst="line">
            <a:avLst/>
          </a:prstGeom>
          <a:noFill/>
          <a:ln w="6350">
            <a:solidFill>
              <a:srgbClr val="C9CEC6"/>
            </a:solidFill>
            <a:prstDash val="solid"/>
          </a:ln>
        </p:spPr>
      </p:sp>
      <p:sp>
        <p:nvSpPr>
          <p:cNvPr id="33" name="Shape 30"/>
          <p:cNvSpPr/>
          <p:nvPr/>
        </p:nvSpPr>
        <p:spPr>
          <a:xfrm flipV="1">
            <a:off x="2057400" y="1828800"/>
            <a:ext cx="1920240" cy="2606040"/>
          </a:xfrm>
          <a:prstGeom prst="line">
            <a:avLst/>
          </a:prstGeom>
          <a:noFill/>
          <a:ln w="6350">
            <a:solidFill>
              <a:srgbClr val="C9CEC6"/>
            </a:solidFill>
            <a:prstDash val="solid"/>
          </a:ln>
        </p:spPr>
      </p:sp>
      <p:sp>
        <p:nvSpPr>
          <p:cNvPr id="34" name="Shape 31"/>
          <p:cNvSpPr/>
          <p:nvPr/>
        </p:nvSpPr>
        <p:spPr>
          <a:xfrm flipV="1">
            <a:off x="2057400" y="2377440"/>
            <a:ext cx="1920240" cy="2057400"/>
          </a:xfrm>
          <a:prstGeom prst="line">
            <a:avLst/>
          </a:prstGeom>
          <a:noFill/>
          <a:ln w="6350">
            <a:solidFill>
              <a:srgbClr val="C9CEC6"/>
            </a:solidFill>
            <a:prstDash val="solid"/>
          </a:ln>
        </p:spPr>
      </p:sp>
      <p:sp>
        <p:nvSpPr>
          <p:cNvPr id="35" name="Shape 32"/>
          <p:cNvSpPr/>
          <p:nvPr/>
        </p:nvSpPr>
        <p:spPr>
          <a:xfrm flipV="1">
            <a:off x="2057400" y="2926080"/>
            <a:ext cx="1920240" cy="1508760"/>
          </a:xfrm>
          <a:prstGeom prst="line">
            <a:avLst/>
          </a:prstGeom>
          <a:noFill/>
          <a:ln w="6350">
            <a:solidFill>
              <a:srgbClr val="C9CEC6"/>
            </a:solidFill>
            <a:prstDash val="solid"/>
          </a:ln>
        </p:spPr>
      </p:sp>
      <p:sp>
        <p:nvSpPr>
          <p:cNvPr id="36" name="Shape 33"/>
          <p:cNvSpPr/>
          <p:nvPr/>
        </p:nvSpPr>
        <p:spPr>
          <a:xfrm flipV="1">
            <a:off x="2057400" y="3474720"/>
            <a:ext cx="1920240" cy="960120"/>
          </a:xfrm>
          <a:prstGeom prst="line">
            <a:avLst/>
          </a:prstGeom>
          <a:noFill/>
          <a:ln w="6350">
            <a:solidFill>
              <a:srgbClr val="C9CEC6"/>
            </a:solidFill>
            <a:prstDash val="solid"/>
          </a:ln>
        </p:spPr>
      </p:sp>
      <p:sp>
        <p:nvSpPr>
          <p:cNvPr id="37" name="Shape 34"/>
          <p:cNvSpPr/>
          <p:nvPr/>
        </p:nvSpPr>
        <p:spPr>
          <a:xfrm flipV="1">
            <a:off x="2057400" y="4023360"/>
            <a:ext cx="1920240" cy="411480"/>
          </a:xfrm>
          <a:prstGeom prst="line">
            <a:avLst/>
          </a:prstGeom>
          <a:noFill/>
          <a:ln w="6350">
            <a:solidFill>
              <a:srgbClr val="C9CEC6"/>
            </a:solidFill>
            <a:prstDash val="solid"/>
          </a:ln>
        </p:spPr>
      </p:sp>
      <p:sp>
        <p:nvSpPr>
          <p:cNvPr id="38" name="Shape 35"/>
          <p:cNvSpPr/>
          <p:nvPr/>
        </p:nvSpPr>
        <p:spPr>
          <a:xfrm>
            <a:off x="2057400" y="4434840"/>
            <a:ext cx="1920240" cy="137160"/>
          </a:xfrm>
          <a:prstGeom prst="line">
            <a:avLst/>
          </a:prstGeom>
          <a:noFill/>
          <a:ln w="6350">
            <a:solidFill>
              <a:srgbClr val="C9CEC6"/>
            </a:solidFill>
            <a:prstDash val="solid"/>
          </a:ln>
        </p:spPr>
      </p:sp>
      <p:sp>
        <p:nvSpPr>
          <p:cNvPr id="39" name="Shape 36"/>
          <p:cNvSpPr/>
          <p:nvPr/>
        </p:nvSpPr>
        <p:spPr>
          <a:xfrm>
            <a:off x="2057400" y="4434840"/>
            <a:ext cx="1920240" cy="685800"/>
          </a:xfrm>
          <a:prstGeom prst="line">
            <a:avLst/>
          </a:prstGeom>
          <a:noFill/>
          <a:ln w="6350">
            <a:solidFill>
              <a:srgbClr val="C9CEC6"/>
            </a:solidFill>
            <a:prstDash val="solid"/>
          </a:ln>
        </p:spPr>
      </p:sp>
      <p:sp>
        <p:nvSpPr>
          <p:cNvPr id="40" name="Shape 37"/>
          <p:cNvSpPr/>
          <p:nvPr/>
        </p:nvSpPr>
        <p:spPr>
          <a:xfrm flipV="1">
            <a:off x="2057400" y="1828800"/>
            <a:ext cx="1920240" cy="3246120"/>
          </a:xfrm>
          <a:prstGeom prst="line">
            <a:avLst/>
          </a:prstGeom>
          <a:noFill/>
          <a:ln w="6350">
            <a:solidFill>
              <a:srgbClr val="C9CEC6"/>
            </a:solidFill>
            <a:prstDash val="solid"/>
          </a:ln>
        </p:spPr>
      </p:sp>
      <p:sp>
        <p:nvSpPr>
          <p:cNvPr id="41" name="Shape 38"/>
          <p:cNvSpPr/>
          <p:nvPr/>
        </p:nvSpPr>
        <p:spPr>
          <a:xfrm flipV="1">
            <a:off x="2057400" y="2377440"/>
            <a:ext cx="1920240" cy="2697480"/>
          </a:xfrm>
          <a:prstGeom prst="line">
            <a:avLst/>
          </a:prstGeom>
          <a:noFill/>
          <a:ln w="6350">
            <a:solidFill>
              <a:srgbClr val="C9CEC6"/>
            </a:solidFill>
            <a:prstDash val="solid"/>
          </a:ln>
        </p:spPr>
      </p:sp>
      <p:sp>
        <p:nvSpPr>
          <p:cNvPr id="42" name="Shape 39"/>
          <p:cNvSpPr/>
          <p:nvPr/>
        </p:nvSpPr>
        <p:spPr>
          <a:xfrm flipV="1">
            <a:off x="2057400" y="2926080"/>
            <a:ext cx="1920240" cy="2148840"/>
          </a:xfrm>
          <a:prstGeom prst="line">
            <a:avLst/>
          </a:prstGeom>
          <a:noFill/>
          <a:ln w="6350">
            <a:solidFill>
              <a:srgbClr val="C9CEC6"/>
            </a:solidFill>
            <a:prstDash val="solid"/>
          </a:ln>
        </p:spPr>
      </p:sp>
      <p:sp>
        <p:nvSpPr>
          <p:cNvPr id="43" name="Shape 40"/>
          <p:cNvSpPr/>
          <p:nvPr/>
        </p:nvSpPr>
        <p:spPr>
          <a:xfrm flipV="1">
            <a:off x="2057400" y="3474720"/>
            <a:ext cx="1920240" cy="1600200"/>
          </a:xfrm>
          <a:prstGeom prst="line">
            <a:avLst/>
          </a:prstGeom>
          <a:noFill/>
          <a:ln w="6350">
            <a:solidFill>
              <a:srgbClr val="C9CEC6"/>
            </a:solidFill>
            <a:prstDash val="solid"/>
          </a:ln>
        </p:spPr>
      </p:sp>
      <p:sp>
        <p:nvSpPr>
          <p:cNvPr id="44" name="Shape 41"/>
          <p:cNvSpPr/>
          <p:nvPr/>
        </p:nvSpPr>
        <p:spPr>
          <a:xfrm flipV="1">
            <a:off x="2057400" y="4023360"/>
            <a:ext cx="1920240" cy="1051560"/>
          </a:xfrm>
          <a:prstGeom prst="line">
            <a:avLst/>
          </a:prstGeom>
          <a:noFill/>
          <a:ln w="6350">
            <a:solidFill>
              <a:srgbClr val="C9CEC6"/>
            </a:solidFill>
            <a:prstDash val="solid"/>
          </a:ln>
        </p:spPr>
      </p:sp>
      <p:sp>
        <p:nvSpPr>
          <p:cNvPr id="45" name="Shape 42"/>
          <p:cNvSpPr/>
          <p:nvPr/>
        </p:nvSpPr>
        <p:spPr>
          <a:xfrm flipV="1">
            <a:off x="2057400" y="4572000"/>
            <a:ext cx="1920240" cy="502920"/>
          </a:xfrm>
          <a:prstGeom prst="line">
            <a:avLst/>
          </a:prstGeom>
          <a:noFill/>
          <a:ln w="6350">
            <a:solidFill>
              <a:srgbClr val="C9CEC6"/>
            </a:solidFill>
            <a:prstDash val="solid"/>
          </a:ln>
        </p:spPr>
      </p:sp>
      <p:sp>
        <p:nvSpPr>
          <p:cNvPr id="46" name="Shape 43"/>
          <p:cNvSpPr/>
          <p:nvPr/>
        </p:nvSpPr>
        <p:spPr>
          <a:xfrm>
            <a:off x="2057400" y="5074920"/>
            <a:ext cx="1920240" cy="45720"/>
          </a:xfrm>
          <a:prstGeom prst="line">
            <a:avLst/>
          </a:prstGeom>
          <a:noFill/>
          <a:ln w="6350">
            <a:solidFill>
              <a:srgbClr val="C9CEC6"/>
            </a:solidFill>
            <a:prstDash val="solid"/>
          </a:ln>
        </p:spPr>
      </p:sp>
      <p:sp>
        <p:nvSpPr>
          <p:cNvPr id="47" name="Shape 44"/>
          <p:cNvSpPr/>
          <p:nvPr/>
        </p:nvSpPr>
        <p:spPr>
          <a:xfrm flipV="1">
            <a:off x="3977640" y="1746504"/>
            <a:ext cx="1828800" cy="82296"/>
          </a:xfrm>
          <a:prstGeom prst="line">
            <a:avLst/>
          </a:prstGeom>
          <a:noFill/>
          <a:ln w="6350">
            <a:solidFill>
              <a:srgbClr val="C9CEC6"/>
            </a:solidFill>
            <a:prstDash val="solid"/>
          </a:ln>
        </p:spPr>
      </p:sp>
      <p:sp>
        <p:nvSpPr>
          <p:cNvPr id="48" name="Shape 45"/>
          <p:cNvSpPr/>
          <p:nvPr/>
        </p:nvSpPr>
        <p:spPr>
          <a:xfrm>
            <a:off x="3977640" y="1828800"/>
            <a:ext cx="1828800" cy="301752"/>
          </a:xfrm>
          <a:prstGeom prst="line">
            <a:avLst/>
          </a:prstGeom>
          <a:noFill/>
          <a:ln w="6350">
            <a:solidFill>
              <a:srgbClr val="C9CEC6"/>
            </a:solidFill>
            <a:prstDash val="solid"/>
          </a:ln>
        </p:spPr>
      </p:sp>
      <p:sp>
        <p:nvSpPr>
          <p:cNvPr id="49" name="Shape 46"/>
          <p:cNvSpPr/>
          <p:nvPr/>
        </p:nvSpPr>
        <p:spPr>
          <a:xfrm>
            <a:off x="3977640" y="1828800"/>
            <a:ext cx="1828800" cy="685800"/>
          </a:xfrm>
          <a:prstGeom prst="line">
            <a:avLst/>
          </a:prstGeom>
          <a:noFill/>
          <a:ln w="6350">
            <a:solidFill>
              <a:srgbClr val="C9CEC6"/>
            </a:solidFill>
            <a:prstDash val="solid"/>
          </a:ln>
        </p:spPr>
      </p:sp>
      <p:sp>
        <p:nvSpPr>
          <p:cNvPr id="50" name="Shape 47"/>
          <p:cNvSpPr/>
          <p:nvPr/>
        </p:nvSpPr>
        <p:spPr>
          <a:xfrm>
            <a:off x="3977640" y="1828800"/>
            <a:ext cx="1828800" cy="1069848"/>
          </a:xfrm>
          <a:prstGeom prst="line">
            <a:avLst/>
          </a:prstGeom>
          <a:noFill/>
          <a:ln w="6350">
            <a:solidFill>
              <a:srgbClr val="C9CEC6"/>
            </a:solidFill>
            <a:prstDash val="solid"/>
          </a:ln>
        </p:spPr>
      </p:sp>
      <p:sp>
        <p:nvSpPr>
          <p:cNvPr id="51" name="Shape 48"/>
          <p:cNvSpPr/>
          <p:nvPr/>
        </p:nvSpPr>
        <p:spPr>
          <a:xfrm>
            <a:off x="3977640" y="1828800"/>
            <a:ext cx="1828800" cy="1453896"/>
          </a:xfrm>
          <a:prstGeom prst="line">
            <a:avLst/>
          </a:prstGeom>
          <a:noFill/>
          <a:ln w="6350">
            <a:solidFill>
              <a:srgbClr val="C9CEC6"/>
            </a:solidFill>
            <a:prstDash val="solid"/>
          </a:ln>
        </p:spPr>
      </p:sp>
      <p:sp>
        <p:nvSpPr>
          <p:cNvPr id="52" name="Shape 49"/>
          <p:cNvSpPr/>
          <p:nvPr/>
        </p:nvSpPr>
        <p:spPr>
          <a:xfrm>
            <a:off x="3977640" y="1828800"/>
            <a:ext cx="1828800" cy="1837944"/>
          </a:xfrm>
          <a:prstGeom prst="line">
            <a:avLst/>
          </a:prstGeom>
          <a:noFill/>
          <a:ln w="6350">
            <a:solidFill>
              <a:srgbClr val="C9CEC6"/>
            </a:solidFill>
            <a:prstDash val="solid"/>
          </a:ln>
        </p:spPr>
      </p:sp>
      <p:sp>
        <p:nvSpPr>
          <p:cNvPr id="53" name="Shape 50"/>
          <p:cNvSpPr/>
          <p:nvPr/>
        </p:nvSpPr>
        <p:spPr>
          <a:xfrm>
            <a:off x="3977640" y="1828800"/>
            <a:ext cx="1828800" cy="2221992"/>
          </a:xfrm>
          <a:prstGeom prst="line">
            <a:avLst/>
          </a:prstGeom>
          <a:noFill/>
          <a:ln w="6350">
            <a:solidFill>
              <a:srgbClr val="C9CEC6"/>
            </a:solidFill>
            <a:prstDash val="solid"/>
          </a:ln>
        </p:spPr>
      </p:sp>
      <p:sp>
        <p:nvSpPr>
          <p:cNvPr id="54" name="Shape 51"/>
          <p:cNvSpPr/>
          <p:nvPr/>
        </p:nvSpPr>
        <p:spPr>
          <a:xfrm>
            <a:off x="3977640" y="1828800"/>
            <a:ext cx="1828800" cy="2606040"/>
          </a:xfrm>
          <a:prstGeom prst="line">
            <a:avLst/>
          </a:prstGeom>
          <a:noFill/>
          <a:ln w="6350">
            <a:solidFill>
              <a:srgbClr val="C9CEC6"/>
            </a:solidFill>
            <a:prstDash val="solid"/>
          </a:ln>
        </p:spPr>
      </p:sp>
      <p:sp>
        <p:nvSpPr>
          <p:cNvPr id="55" name="Shape 52"/>
          <p:cNvSpPr/>
          <p:nvPr/>
        </p:nvSpPr>
        <p:spPr>
          <a:xfrm>
            <a:off x="3977640" y="1828800"/>
            <a:ext cx="1828800" cy="2990088"/>
          </a:xfrm>
          <a:prstGeom prst="line">
            <a:avLst/>
          </a:prstGeom>
          <a:noFill/>
          <a:ln w="6350">
            <a:solidFill>
              <a:srgbClr val="C9CEC6"/>
            </a:solidFill>
            <a:prstDash val="solid"/>
          </a:ln>
        </p:spPr>
      </p:sp>
      <p:sp>
        <p:nvSpPr>
          <p:cNvPr id="56" name="Shape 53"/>
          <p:cNvSpPr/>
          <p:nvPr/>
        </p:nvSpPr>
        <p:spPr>
          <a:xfrm>
            <a:off x="3977640" y="1828800"/>
            <a:ext cx="1828800" cy="3374136"/>
          </a:xfrm>
          <a:prstGeom prst="line">
            <a:avLst/>
          </a:prstGeom>
          <a:noFill/>
          <a:ln w="6350">
            <a:solidFill>
              <a:srgbClr val="C9CEC6"/>
            </a:solidFill>
            <a:prstDash val="solid"/>
          </a:ln>
        </p:spPr>
      </p:sp>
      <p:sp>
        <p:nvSpPr>
          <p:cNvPr id="57" name="Shape 54"/>
          <p:cNvSpPr/>
          <p:nvPr/>
        </p:nvSpPr>
        <p:spPr>
          <a:xfrm flipV="1">
            <a:off x="3977640" y="1746504"/>
            <a:ext cx="1828800" cy="630936"/>
          </a:xfrm>
          <a:prstGeom prst="line">
            <a:avLst/>
          </a:prstGeom>
          <a:noFill/>
          <a:ln w="6350">
            <a:solidFill>
              <a:srgbClr val="C9CEC6"/>
            </a:solidFill>
            <a:prstDash val="solid"/>
          </a:ln>
        </p:spPr>
      </p:sp>
      <p:sp>
        <p:nvSpPr>
          <p:cNvPr id="58" name="Shape 55"/>
          <p:cNvSpPr/>
          <p:nvPr/>
        </p:nvSpPr>
        <p:spPr>
          <a:xfrm flipV="1">
            <a:off x="3977640" y="2130552"/>
            <a:ext cx="1828800" cy="246888"/>
          </a:xfrm>
          <a:prstGeom prst="line">
            <a:avLst/>
          </a:prstGeom>
          <a:noFill/>
          <a:ln w="6350">
            <a:solidFill>
              <a:srgbClr val="C9CEC6"/>
            </a:solidFill>
            <a:prstDash val="solid"/>
          </a:ln>
        </p:spPr>
      </p:sp>
      <p:sp>
        <p:nvSpPr>
          <p:cNvPr id="59" name="Shape 56"/>
          <p:cNvSpPr/>
          <p:nvPr/>
        </p:nvSpPr>
        <p:spPr>
          <a:xfrm>
            <a:off x="3977640" y="2377440"/>
            <a:ext cx="1828800" cy="137160"/>
          </a:xfrm>
          <a:prstGeom prst="line">
            <a:avLst/>
          </a:prstGeom>
          <a:noFill/>
          <a:ln w="6350">
            <a:solidFill>
              <a:srgbClr val="C9CEC6"/>
            </a:solidFill>
            <a:prstDash val="solid"/>
          </a:ln>
        </p:spPr>
      </p:sp>
      <p:sp>
        <p:nvSpPr>
          <p:cNvPr id="60" name="Shape 57"/>
          <p:cNvSpPr/>
          <p:nvPr/>
        </p:nvSpPr>
        <p:spPr>
          <a:xfrm>
            <a:off x="3977640" y="2377440"/>
            <a:ext cx="1828800" cy="521208"/>
          </a:xfrm>
          <a:prstGeom prst="line">
            <a:avLst/>
          </a:prstGeom>
          <a:noFill/>
          <a:ln w="6350">
            <a:solidFill>
              <a:srgbClr val="C9CEC6"/>
            </a:solidFill>
            <a:prstDash val="solid"/>
          </a:ln>
        </p:spPr>
      </p:sp>
      <p:sp>
        <p:nvSpPr>
          <p:cNvPr id="61" name="Shape 58"/>
          <p:cNvSpPr/>
          <p:nvPr/>
        </p:nvSpPr>
        <p:spPr>
          <a:xfrm>
            <a:off x="3977640" y="2377440"/>
            <a:ext cx="1828800" cy="905256"/>
          </a:xfrm>
          <a:prstGeom prst="line">
            <a:avLst/>
          </a:prstGeom>
          <a:noFill/>
          <a:ln w="6350">
            <a:solidFill>
              <a:srgbClr val="C9CEC6"/>
            </a:solidFill>
            <a:prstDash val="solid"/>
          </a:ln>
        </p:spPr>
      </p:sp>
      <p:sp>
        <p:nvSpPr>
          <p:cNvPr id="62" name="Shape 59"/>
          <p:cNvSpPr/>
          <p:nvPr/>
        </p:nvSpPr>
        <p:spPr>
          <a:xfrm>
            <a:off x="3977640" y="2377440"/>
            <a:ext cx="1828800" cy="1289304"/>
          </a:xfrm>
          <a:prstGeom prst="line">
            <a:avLst/>
          </a:prstGeom>
          <a:noFill/>
          <a:ln w="6350">
            <a:solidFill>
              <a:srgbClr val="C9CEC6"/>
            </a:solidFill>
            <a:prstDash val="solid"/>
          </a:ln>
        </p:spPr>
      </p:sp>
      <p:sp>
        <p:nvSpPr>
          <p:cNvPr id="63" name="Shape 60"/>
          <p:cNvSpPr/>
          <p:nvPr/>
        </p:nvSpPr>
        <p:spPr>
          <a:xfrm>
            <a:off x="3977640" y="2377440"/>
            <a:ext cx="1828800" cy="1673352"/>
          </a:xfrm>
          <a:prstGeom prst="line">
            <a:avLst/>
          </a:prstGeom>
          <a:noFill/>
          <a:ln w="6350">
            <a:solidFill>
              <a:srgbClr val="C9CEC6"/>
            </a:solidFill>
            <a:prstDash val="solid"/>
          </a:ln>
        </p:spPr>
      </p:sp>
      <p:sp>
        <p:nvSpPr>
          <p:cNvPr id="64" name="Shape 61"/>
          <p:cNvSpPr/>
          <p:nvPr/>
        </p:nvSpPr>
        <p:spPr>
          <a:xfrm>
            <a:off x="3977640" y="2377440"/>
            <a:ext cx="1828800" cy="2057400"/>
          </a:xfrm>
          <a:prstGeom prst="line">
            <a:avLst/>
          </a:prstGeom>
          <a:noFill/>
          <a:ln w="6350">
            <a:solidFill>
              <a:srgbClr val="C9CEC6"/>
            </a:solidFill>
            <a:prstDash val="solid"/>
          </a:ln>
        </p:spPr>
      </p:sp>
      <p:sp>
        <p:nvSpPr>
          <p:cNvPr id="65" name="Shape 62"/>
          <p:cNvSpPr/>
          <p:nvPr/>
        </p:nvSpPr>
        <p:spPr>
          <a:xfrm>
            <a:off x="3977640" y="2377440"/>
            <a:ext cx="1828800" cy="2441448"/>
          </a:xfrm>
          <a:prstGeom prst="line">
            <a:avLst/>
          </a:prstGeom>
          <a:noFill/>
          <a:ln w="6350">
            <a:solidFill>
              <a:srgbClr val="C9CEC6"/>
            </a:solidFill>
            <a:prstDash val="solid"/>
          </a:ln>
        </p:spPr>
      </p:sp>
      <p:sp>
        <p:nvSpPr>
          <p:cNvPr id="66" name="Shape 63"/>
          <p:cNvSpPr/>
          <p:nvPr/>
        </p:nvSpPr>
        <p:spPr>
          <a:xfrm>
            <a:off x="3977640" y="2377440"/>
            <a:ext cx="1828800" cy="2825496"/>
          </a:xfrm>
          <a:prstGeom prst="line">
            <a:avLst/>
          </a:prstGeom>
          <a:noFill/>
          <a:ln w="6350">
            <a:solidFill>
              <a:srgbClr val="C9CEC6"/>
            </a:solidFill>
            <a:prstDash val="solid"/>
          </a:ln>
        </p:spPr>
      </p:sp>
      <p:sp>
        <p:nvSpPr>
          <p:cNvPr id="67" name="Shape 64"/>
          <p:cNvSpPr/>
          <p:nvPr/>
        </p:nvSpPr>
        <p:spPr>
          <a:xfrm flipV="1">
            <a:off x="3977640" y="1746504"/>
            <a:ext cx="1828800" cy="1179576"/>
          </a:xfrm>
          <a:prstGeom prst="line">
            <a:avLst/>
          </a:prstGeom>
          <a:noFill/>
          <a:ln w="6350">
            <a:solidFill>
              <a:srgbClr val="C9CEC6"/>
            </a:solidFill>
            <a:prstDash val="solid"/>
          </a:ln>
        </p:spPr>
      </p:sp>
      <p:sp>
        <p:nvSpPr>
          <p:cNvPr id="68" name="Shape 65"/>
          <p:cNvSpPr/>
          <p:nvPr/>
        </p:nvSpPr>
        <p:spPr>
          <a:xfrm flipV="1">
            <a:off x="3977640" y="2130552"/>
            <a:ext cx="1828800" cy="795528"/>
          </a:xfrm>
          <a:prstGeom prst="line">
            <a:avLst/>
          </a:prstGeom>
          <a:noFill/>
          <a:ln w="6350">
            <a:solidFill>
              <a:srgbClr val="C9CEC6"/>
            </a:solidFill>
            <a:prstDash val="solid"/>
          </a:ln>
        </p:spPr>
      </p:sp>
      <p:sp>
        <p:nvSpPr>
          <p:cNvPr id="69" name="Shape 66"/>
          <p:cNvSpPr/>
          <p:nvPr/>
        </p:nvSpPr>
        <p:spPr>
          <a:xfrm flipV="1">
            <a:off x="3977640" y="2514600"/>
            <a:ext cx="1828800" cy="411480"/>
          </a:xfrm>
          <a:prstGeom prst="line">
            <a:avLst/>
          </a:prstGeom>
          <a:noFill/>
          <a:ln w="6350">
            <a:solidFill>
              <a:srgbClr val="C9CEC6"/>
            </a:solidFill>
            <a:prstDash val="solid"/>
          </a:ln>
        </p:spPr>
      </p:sp>
      <p:sp>
        <p:nvSpPr>
          <p:cNvPr id="70" name="Shape 67"/>
          <p:cNvSpPr/>
          <p:nvPr/>
        </p:nvSpPr>
        <p:spPr>
          <a:xfrm flipV="1">
            <a:off x="3977640" y="2898648"/>
            <a:ext cx="1828800" cy="27432"/>
          </a:xfrm>
          <a:prstGeom prst="line">
            <a:avLst/>
          </a:prstGeom>
          <a:noFill/>
          <a:ln w="6350">
            <a:solidFill>
              <a:srgbClr val="C9CEC6"/>
            </a:solidFill>
            <a:prstDash val="solid"/>
          </a:ln>
        </p:spPr>
      </p:sp>
      <p:sp>
        <p:nvSpPr>
          <p:cNvPr id="71" name="Shape 68"/>
          <p:cNvSpPr/>
          <p:nvPr/>
        </p:nvSpPr>
        <p:spPr>
          <a:xfrm>
            <a:off x="3977640" y="2926080"/>
            <a:ext cx="1828800" cy="356616"/>
          </a:xfrm>
          <a:prstGeom prst="line">
            <a:avLst/>
          </a:prstGeom>
          <a:noFill/>
          <a:ln w="6350">
            <a:solidFill>
              <a:srgbClr val="C9CEC6"/>
            </a:solidFill>
            <a:prstDash val="solid"/>
          </a:ln>
        </p:spPr>
      </p:sp>
      <p:sp>
        <p:nvSpPr>
          <p:cNvPr id="72" name="Shape 69"/>
          <p:cNvSpPr/>
          <p:nvPr/>
        </p:nvSpPr>
        <p:spPr>
          <a:xfrm>
            <a:off x="3977640" y="2926080"/>
            <a:ext cx="1828800" cy="740664"/>
          </a:xfrm>
          <a:prstGeom prst="line">
            <a:avLst/>
          </a:prstGeom>
          <a:noFill/>
          <a:ln w="6350">
            <a:solidFill>
              <a:srgbClr val="C9CEC6"/>
            </a:solidFill>
            <a:prstDash val="solid"/>
          </a:ln>
        </p:spPr>
      </p:sp>
      <p:sp>
        <p:nvSpPr>
          <p:cNvPr id="73" name="Shape 70"/>
          <p:cNvSpPr/>
          <p:nvPr/>
        </p:nvSpPr>
        <p:spPr>
          <a:xfrm>
            <a:off x="3977640" y="2926080"/>
            <a:ext cx="1828800" cy="1124712"/>
          </a:xfrm>
          <a:prstGeom prst="line">
            <a:avLst/>
          </a:prstGeom>
          <a:noFill/>
          <a:ln w="6350">
            <a:solidFill>
              <a:srgbClr val="C9CEC6"/>
            </a:solidFill>
            <a:prstDash val="solid"/>
          </a:ln>
        </p:spPr>
      </p:sp>
      <p:sp>
        <p:nvSpPr>
          <p:cNvPr id="74" name="Shape 71"/>
          <p:cNvSpPr/>
          <p:nvPr/>
        </p:nvSpPr>
        <p:spPr>
          <a:xfrm>
            <a:off x="3977640" y="2926080"/>
            <a:ext cx="1828800" cy="1508760"/>
          </a:xfrm>
          <a:prstGeom prst="line">
            <a:avLst/>
          </a:prstGeom>
          <a:noFill/>
          <a:ln w="6350">
            <a:solidFill>
              <a:srgbClr val="C9CEC6"/>
            </a:solidFill>
            <a:prstDash val="solid"/>
          </a:ln>
        </p:spPr>
      </p:sp>
      <p:sp>
        <p:nvSpPr>
          <p:cNvPr id="75" name="Shape 72"/>
          <p:cNvSpPr/>
          <p:nvPr/>
        </p:nvSpPr>
        <p:spPr>
          <a:xfrm>
            <a:off x="3977640" y="2926080"/>
            <a:ext cx="1828800" cy="1892808"/>
          </a:xfrm>
          <a:prstGeom prst="line">
            <a:avLst/>
          </a:prstGeom>
          <a:noFill/>
          <a:ln w="6350">
            <a:solidFill>
              <a:srgbClr val="C9CEC6"/>
            </a:solidFill>
            <a:prstDash val="solid"/>
          </a:ln>
        </p:spPr>
      </p:sp>
      <p:sp>
        <p:nvSpPr>
          <p:cNvPr id="76" name="Shape 73"/>
          <p:cNvSpPr/>
          <p:nvPr/>
        </p:nvSpPr>
        <p:spPr>
          <a:xfrm>
            <a:off x="3977640" y="2926080"/>
            <a:ext cx="1828800" cy="2276856"/>
          </a:xfrm>
          <a:prstGeom prst="line">
            <a:avLst/>
          </a:prstGeom>
          <a:noFill/>
          <a:ln w="6350">
            <a:solidFill>
              <a:srgbClr val="C9CEC6"/>
            </a:solidFill>
            <a:prstDash val="solid"/>
          </a:ln>
        </p:spPr>
      </p:sp>
      <p:sp>
        <p:nvSpPr>
          <p:cNvPr id="77" name="Shape 74"/>
          <p:cNvSpPr/>
          <p:nvPr/>
        </p:nvSpPr>
        <p:spPr>
          <a:xfrm flipV="1">
            <a:off x="3977640" y="1746504"/>
            <a:ext cx="1828800" cy="1728216"/>
          </a:xfrm>
          <a:prstGeom prst="line">
            <a:avLst/>
          </a:prstGeom>
          <a:noFill/>
          <a:ln w="6350">
            <a:solidFill>
              <a:srgbClr val="C9CEC6"/>
            </a:solidFill>
            <a:prstDash val="solid"/>
          </a:ln>
        </p:spPr>
      </p:sp>
      <p:sp>
        <p:nvSpPr>
          <p:cNvPr id="78" name="Shape 75"/>
          <p:cNvSpPr/>
          <p:nvPr/>
        </p:nvSpPr>
        <p:spPr>
          <a:xfrm flipV="1">
            <a:off x="3977640" y="2130552"/>
            <a:ext cx="1828800" cy="1344168"/>
          </a:xfrm>
          <a:prstGeom prst="line">
            <a:avLst/>
          </a:prstGeom>
          <a:noFill/>
          <a:ln w="6350">
            <a:solidFill>
              <a:srgbClr val="C9CEC6"/>
            </a:solidFill>
            <a:prstDash val="solid"/>
          </a:ln>
        </p:spPr>
      </p:sp>
      <p:sp>
        <p:nvSpPr>
          <p:cNvPr id="79" name="Shape 76"/>
          <p:cNvSpPr/>
          <p:nvPr/>
        </p:nvSpPr>
        <p:spPr>
          <a:xfrm flipV="1">
            <a:off x="3977640" y="2514600"/>
            <a:ext cx="1828800" cy="960120"/>
          </a:xfrm>
          <a:prstGeom prst="line">
            <a:avLst/>
          </a:prstGeom>
          <a:noFill/>
          <a:ln w="6350">
            <a:solidFill>
              <a:srgbClr val="C9CEC6"/>
            </a:solidFill>
            <a:prstDash val="solid"/>
          </a:ln>
        </p:spPr>
      </p:sp>
      <p:sp>
        <p:nvSpPr>
          <p:cNvPr id="80" name="Shape 77"/>
          <p:cNvSpPr/>
          <p:nvPr/>
        </p:nvSpPr>
        <p:spPr>
          <a:xfrm flipV="1">
            <a:off x="3977640" y="2898648"/>
            <a:ext cx="1828800" cy="576072"/>
          </a:xfrm>
          <a:prstGeom prst="line">
            <a:avLst/>
          </a:prstGeom>
          <a:noFill/>
          <a:ln w="6350">
            <a:solidFill>
              <a:srgbClr val="C9CEC6"/>
            </a:solidFill>
            <a:prstDash val="solid"/>
          </a:ln>
        </p:spPr>
      </p:sp>
      <p:sp>
        <p:nvSpPr>
          <p:cNvPr id="81" name="Shape 78"/>
          <p:cNvSpPr/>
          <p:nvPr/>
        </p:nvSpPr>
        <p:spPr>
          <a:xfrm flipV="1">
            <a:off x="3977640" y="3282696"/>
            <a:ext cx="1828800" cy="192024"/>
          </a:xfrm>
          <a:prstGeom prst="line">
            <a:avLst/>
          </a:prstGeom>
          <a:noFill/>
          <a:ln w="6350">
            <a:solidFill>
              <a:srgbClr val="C9CEC6"/>
            </a:solidFill>
            <a:prstDash val="solid"/>
          </a:ln>
        </p:spPr>
      </p:sp>
      <p:sp>
        <p:nvSpPr>
          <p:cNvPr id="82" name="Shape 79"/>
          <p:cNvSpPr/>
          <p:nvPr/>
        </p:nvSpPr>
        <p:spPr>
          <a:xfrm>
            <a:off x="3977640" y="3474720"/>
            <a:ext cx="1828800" cy="192024"/>
          </a:xfrm>
          <a:prstGeom prst="line">
            <a:avLst/>
          </a:prstGeom>
          <a:noFill/>
          <a:ln w="6350">
            <a:solidFill>
              <a:srgbClr val="C9CEC6"/>
            </a:solidFill>
            <a:prstDash val="solid"/>
          </a:ln>
        </p:spPr>
      </p:sp>
      <p:sp>
        <p:nvSpPr>
          <p:cNvPr id="83" name="Shape 80"/>
          <p:cNvSpPr/>
          <p:nvPr/>
        </p:nvSpPr>
        <p:spPr>
          <a:xfrm>
            <a:off x="3977640" y="3474720"/>
            <a:ext cx="1828800" cy="576072"/>
          </a:xfrm>
          <a:prstGeom prst="line">
            <a:avLst/>
          </a:prstGeom>
          <a:noFill/>
          <a:ln w="6350">
            <a:solidFill>
              <a:srgbClr val="C9CEC6"/>
            </a:solidFill>
            <a:prstDash val="solid"/>
          </a:ln>
        </p:spPr>
      </p:sp>
      <p:sp>
        <p:nvSpPr>
          <p:cNvPr id="84" name="Shape 81"/>
          <p:cNvSpPr/>
          <p:nvPr/>
        </p:nvSpPr>
        <p:spPr>
          <a:xfrm>
            <a:off x="3977640" y="3474720"/>
            <a:ext cx="1828800" cy="960120"/>
          </a:xfrm>
          <a:prstGeom prst="line">
            <a:avLst/>
          </a:prstGeom>
          <a:noFill/>
          <a:ln w="6350">
            <a:solidFill>
              <a:srgbClr val="C9CEC6"/>
            </a:solidFill>
            <a:prstDash val="solid"/>
          </a:ln>
        </p:spPr>
      </p:sp>
      <p:sp>
        <p:nvSpPr>
          <p:cNvPr id="85" name="Shape 82"/>
          <p:cNvSpPr/>
          <p:nvPr/>
        </p:nvSpPr>
        <p:spPr>
          <a:xfrm>
            <a:off x="3977640" y="3474720"/>
            <a:ext cx="1828800" cy="1344168"/>
          </a:xfrm>
          <a:prstGeom prst="line">
            <a:avLst/>
          </a:prstGeom>
          <a:noFill/>
          <a:ln w="6350">
            <a:solidFill>
              <a:srgbClr val="C9CEC6"/>
            </a:solidFill>
            <a:prstDash val="solid"/>
          </a:ln>
        </p:spPr>
      </p:sp>
      <p:sp>
        <p:nvSpPr>
          <p:cNvPr id="86" name="Shape 83"/>
          <p:cNvSpPr/>
          <p:nvPr/>
        </p:nvSpPr>
        <p:spPr>
          <a:xfrm>
            <a:off x="3977640" y="3474720"/>
            <a:ext cx="1828800" cy="1728216"/>
          </a:xfrm>
          <a:prstGeom prst="line">
            <a:avLst/>
          </a:prstGeom>
          <a:noFill/>
          <a:ln w="6350">
            <a:solidFill>
              <a:srgbClr val="C9CEC6"/>
            </a:solidFill>
            <a:prstDash val="solid"/>
          </a:ln>
        </p:spPr>
      </p:sp>
      <p:sp>
        <p:nvSpPr>
          <p:cNvPr id="87" name="Shape 84"/>
          <p:cNvSpPr/>
          <p:nvPr/>
        </p:nvSpPr>
        <p:spPr>
          <a:xfrm flipV="1">
            <a:off x="3977640" y="1746504"/>
            <a:ext cx="1828800" cy="2276856"/>
          </a:xfrm>
          <a:prstGeom prst="line">
            <a:avLst/>
          </a:prstGeom>
          <a:noFill/>
          <a:ln w="6350">
            <a:solidFill>
              <a:srgbClr val="C9CEC6"/>
            </a:solidFill>
            <a:prstDash val="solid"/>
          </a:ln>
        </p:spPr>
      </p:sp>
      <p:sp>
        <p:nvSpPr>
          <p:cNvPr id="88" name="Shape 85"/>
          <p:cNvSpPr/>
          <p:nvPr/>
        </p:nvSpPr>
        <p:spPr>
          <a:xfrm flipV="1">
            <a:off x="3977640" y="2130552"/>
            <a:ext cx="1828800" cy="1892808"/>
          </a:xfrm>
          <a:prstGeom prst="line">
            <a:avLst/>
          </a:prstGeom>
          <a:noFill/>
          <a:ln w="6350">
            <a:solidFill>
              <a:srgbClr val="C9CEC6"/>
            </a:solidFill>
            <a:prstDash val="solid"/>
          </a:ln>
        </p:spPr>
      </p:sp>
      <p:sp>
        <p:nvSpPr>
          <p:cNvPr id="89" name="Shape 86"/>
          <p:cNvSpPr/>
          <p:nvPr/>
        </p:nvSpPr>
        <p:spPr>
          <a:xfrm flipV="1">
            <a:off x="3977640" y="2514600"/>
            <a:ext cx="1828800" cy="1508760"/>
          </a:xfrm>
          <a:prstGeom prst="line">
            <a:avLst/>
          </a:prstGeom>
          <a:noFill/>
          <a:ln w="6350">
            <a:solidFill>
              <a:srgbClr val="C9CEC6"/>
            </a:solidFill>
            <a:prstDash val="solid"/>
          </a:ln>
        </p:spPr>
      </p:sp>
      <p:sp>
        <p:nvSpPr>
          <p:cNvPr id="90" name="Shape 87"/>
          <p:cNvSpPr/>
          <p:nvPr/>
        </p:nvSpPr>
        <p:spPr>
          <a:xfrm flipV="1">
            <a:off x="3977640" y="2898648"/>
            <a:ext cx="1828800" cy="1124712"/>
          </a:xfrm>
          <a:prstGeom prst="line">
            <a:avLst/>
          </a:prstGeom>
          <a:noFill/>
          <a:ln w="6350">
            <a:solidFill>
              <a:srgbClr val="C9CEC6"/>
            </a:solidFill>
            <a:prstDash val="solid"/>
          </a:ln>
        </p:spPr>
      </p:sp>
      <p:sp>
        <p:nvSpPr>
          <p:cNvPr id="91" name="Shape 88"/>
          <p:cNvSpPr/>
          <p:nvPr/>
        </p:nvSpPr>
        <p:spPr>
          <a:xfrm flipV="1">
            <a:off x="3977640" y="3282696"/>
            <a:ext cx="1828800" cy="740664"/>
          </a:xfrm>
          <a:prstGeom prst="line">
            <a:avLst/>
          </a:prstGeom>
          <a:noFill/>
          <a:ln w="6350">
            <a:solidFill>
              <a:srgbClr val="C9CEC6"/>
            </a:solidFill>
            <a:prstDash val="solid"/>
          </a:ln>
        </p:spPr>
      </p:sp>
      <p:sp>
        <p:nvSpPr>
          <p:cNvPr id="92" name="Shape 89"/>
          <p:cNvSpPr/>
          <p:nvPr/>
        </p:nvSpPr>
        <p:spPr>
          <a:xfrm flipV="1">
            <a:off x="3977640" y="3666744"/>
            <a:ext cx="1828800" cy="356616"/>
          </a:xfrm>
          <a:prstGeom prst="line">
            <a:avLst/>
          </a:prstGeom>
          <a:noFill/>
          <a:ln w="6350">
            <a:solidFill>
              <a:srgbClr val="C9CEC6"/>
            </a:solidFill>
            <a:prstDash val="solid"/>
          </a:ln>
        </p:spPr>
      </p:sp>
      <p:sp>
        <p:nvSpPr>
          <p:cNvPr id="93" name="Shape 90"/>
          <p:cNvSpPr/>
          <p:nvPr/>
        </p:nvSpPr>
        <p:spPr>
          <a:xfrm>
            <a:off x="3977640" y="4023360"/>
            <a:ext cx="1828800" cy="27432"/>
          </a:xfrm>
          <a:prstGeom prst="line">
            <a:avLst/>
          </a:prstGeom>
          <a:noFill/>
          <a:ln w="6350">
            <a:solidFill>
              <a:srgbClr val="C9CEC6"/>
            </a:solidFill>
            <a:prstDash val="solid"/>
          </a:ln>
        </p:spPr>
      </p:sp>
      <p:sp>
        <p:nvSpPr>
          <p:cNvPr id="94" name="Shape 91"/>
          <p:cNvSpPr/>
          <p:nvPr/>
        </p:nvSpPr>
        <p:spPr>
          <a:xfrm>
            <a:off x="3977640" y="4023360"/>
            <a:ext cx="1828800" cy="411480"/>
          </a:xfrm>
          <a:prstGeom prst="line">
            <a:avLst/>
          </a:prstGeom>
          <a:noFill/>
          <a:ln w="6350">
            <a:solidFill>
              <a:srgbClr val="C9CEC6"/>
            </a:solidFill>
            <a:prstDash val="solid"/>
          </a:ln>
        </p:spPr>
      </p:sp>
      <p:sp>
        <p:nvSpPr>
          <p:cNvPr id="95" name="Shape 92"/>
          <p:cNvSpPr/>
          <p:nvPr/>
        </p:nvSpPr>
        <p:spPr>
          <a:xfrm>
            <a:off x="3977640" y="4023360"/>
            <a:ext cx="1828800" cy="795528"/>
          </a:xfrm>
          <a:prstGeom prst="line">
            <a:avLst/>
          </a:prstGeom>
          <a:noFill/>
          <a:ln w="6350">
            <a:solidFill>
              <a:srgbClr val="C9CEC6"/>
            </a:solidFill>
            <a:prstDash val="solid"/>
          </a:ln>
        </p:spPr>
      </p:sp>
      <p:sp>
        <p:nvSpPr>
          <p:cNvPr id="96" name="Shape 93"/>
          <p:cNvSpPr/>
          <p:nvPr/>
        </p:nvSpPr>
        <p:spPr>
          <a:xfrm>
            <a:off x="3977640" y="4023360"/>
            <a:ext cx="1828800" cy="1179576"/>
          </a:xfrm>
          <a:prstGeom prst="line">
            <a:avLst/>
          </a:prstGeom>
          <a:noFill/>
          <a:ln w="6350">
            <a:solidFill>
              <a:srgbClr val="C9CEC6"/>
            </a:solidFill>
            <a:prstDash val="solid"/>
          </a:ln>
        </p:spPr>
      </p:sp>
      <p:sp>
        <p:nvSpPr>
          <p:cNvPr id="97" name="Shape 94"/>
          <p:cNvSpPr/>
          <p:nvPr/>
        </p:nvSpPr>
        <p:spPr>
          <a:xfrm flipV="1">
            <a:off x="3977640" y="1746504"/>
            <a:ext cx="1828800" cy="2825496"/>
          </a:xfrm>
          <a:prstGeom prst="line">
            <a:avLst/>
          </a:prstGeom>
          <a:noFill/>
          <a:ln w="6350">
            <a:solidFill>
              <a:srgbClr val="C9CEC6"/>
            </a:solidFill>
            <a:prstDash val="solid"/>
          </a:ln>
        </p:spPr>
      </p:sp>
      <p:sp>
        <p:nvSpPr>
          <p:cNvPr id="98" name="Shape 95"/>
          <p:cNvSpPr/>
          <p:nvPr/>
        </p:nvSpPr>
        <p:spPr>
          <a:xfrm flipV="1">
            <a:off x="3977640" y="2130552"/>
            <a:ext cx="1828800" cy="2441448"/>
          </a:xfrm>
          <a:prstGeom prst="line">
            <a:avLst/>
          </a:prstGeom>
          <a:noFill/>
          <a:ln w="6350">
            <a:solidFill>
              <a:srgbClr val="C9CEC6"/>
            </a:solidFill>
            <a:prstDash val="solid"/>
          </a:ln>
        </p:spPr>
      </p:sp>
      <p:sp>
        <p:nvSpPr>
          <p:cNvPr id="99" name="Shape 96"/>
          <p:cNvSpPr/>
          <p:nvPr/>
        </p:nvSpPr>
        <p:spPr>
          <a:xfrm flipV="1">
            <a:off x="3977640" y="2514600"/>
            <a:ext cx="1828800" cy="2057400"/>
          </a:xfrm>
          <a:prstGeom prst="line">
            <a:avLst/>
          </a:prstGeom>
          <a:noFill/>
          <a:ln w="6350">
            <a:solidFill>
              <a:srgbClr val="C9CEC6"/>
            </a:solidFill>
            <a:prstDash val="solid"/>
          </a:ln>
        </p:spPr>
      </p:sp>
      <p:sp>
        <p:nvSpPr>
          <p:cNvPr id="100" name="Shape 97"/>
          <p:cNvSpPr/>
          <p:nvPr/>
        </p:nvSpPr>
        <p:spPr>
          <a:xfrm flipV="1">
            <a:off x="3977640" y="2898648"/>
            <a:ext cx="1828800" cy="1673352"/>
          </a:xfrm>
          <a:prstGeom prst="line">
            <a:avLst/>
          </a:prstGeom>
          <a:noFill/>
          <a:ln w="6350">
            <a:solidFill>
              <a:srgbClr val="C9CEC6"/>
            </a:solidFill>
            <a:prstDash val="solid"/>
          </a:ln>
        </p:spPr>
      </p:sp>
      <p:sp>
        <p:nvSpPr>
          <p:cNvPr id="101" name="Shape 98"/>
          <p:cNvSpPr/>
          <p:nvPr/>
        </p:nvSpPr>
        <p:spPr>
          <a:xfrm flipV="1">
            <a:off x="3977640" y="3282696"/>
            <a:ext cx="1828800" cy="1289304"/>
          </a:xfrm>
          <a:prstGeom prst="line">
            <a:avLst/>
          </a:prstGeom>
          <a:noFill/>
          <a:ln w="6350">
            <a:solidFill>
              <a:srgbClr val="C9CEC6"/>
            </a:solidFill>
            <a:prstDash val="solid"/>
          </a:ln>
        </p:spPr>
      </p:sp>
      <p:sp>
        <p:nvSpPr>
          <p:cNvPr id="102" name="Shape 99"/>
          <p:cNvSpPr/>
          <p:nvPr/>
        </p:nvSpPr>
        <p:spPr>
          <a:xfrm flipV="1">
            <a:off x="3977640" y="3666744"/>
            <a:ext cx="1828800" cy="905256"/>
          </a:xfrm>
          <a:prstGeom prst="line">
            <a:avLst/>
          </a:prstGeom>
          <a:noFill/>
          <a:ln w="6350">
            <a:solidFill>
              <a:srgbClr val="C9CEC6"/>
            </a:solidFill>
            <a:prstDash val="solid"/>
          </a:ln>
        </p:spPr>
      </p:sp>
      <p:sp>
        <p:nvSpPr>
          <p:cNvPr id="103" name="Shape 100"/>
          <p:cNvSpPr/>
          <p:nvPr/>
        </p:nvSpPr>
        <p:spPr>
          <a:xfrm flipV="1">
            <a:off x="3977640" y="4050792"/>
            <a:ext cx="1828800" cy="521208"/>
          </a:xfrm>
          <a:prstGeom prst="line">
            <a:avLst/>
          </a:prstGeom>
          <a:noFill/>
          <a:ln w="6350">
            <a:solidFill>
              <a:srgbClr val="C9CEC6"/>
            </a:solidFill>
            <a:prstDash val="solid"/>
          </a:ln>
        </p:spPr>
      </p:sp>
      <p:sp>
        <p:nvSpPr>
          <p:cNvPr id="104" name="Shape 101"/>
          <p:cNvSpPr/>
          <p:nvPr/>
        </p:nvSpPr>
        <p:spPr>
          <a:xfrm flipV="1">
            <a:off x="3977640" y="4434840"/>
            <a:ext cx="1828800" cy="137160"/>
          </a:xfrm>
          <a:prstGeom prst="line">
            <a:avLst/>
          </a:prstGeom>
          <a:noFill/>
          <a:ln w="6350">
            <a:solidFill>
              <a:srgbClr val="C9CEC6"/>
            </a:solidFill>
            <a:prstDash val="solid"/>
          </a:ln>
        </p:spPr>
      </p:sp>
      <p:sp>
        <p:nvSpPr>
          <p:cNvPr id="105" name="Shape 102"/>
          <p:cNvSpPr/>
          <p:nvPr/>
        </p:nvSpPr>
        <p:spPr>
          <a:xfrm>
            <a:off x="3977640" y="4572000"/>
            <a:ext cx="1828800" cy="246888"/>
          </a:xfrm>
          <a:prstGeom prst="line">
            <a:avLst/>
          </a:prstGeom>
          <a:noFill/>
          <a:ln w="6350">
            <a:solidFill>
              <a:srgbClr val="C9CEC6"/>
            </a:solidFill>
            <a:prstDash val="solid"/>
          </a:ln>
        </p:spPr>
      </p:sp>
      <p:sp>
        <p:nvSpPr>
          <p:cNvPr id="106" name="Shape 103"/>
          <p:cNvSpPr/>
          <p:nvPr/>
        </p:nvSpPr>
        <p:spPr>
          <a:xfrm>
            <a:off x="3977640" y="4572000"/>
            <a:ext cx="1828800" cy="630936"/>
          </a:xfrm>
          <a:prstGeom prst="line">
            <a:avLst/>
          </a:prstGeom>
          <a:noFill/>
          <a:ln w="6350">
            <a:solidFill>
              <a:srgbClr val="C9CEC6"/>
            </a:solidFill>
            <a:prstDash val="solid"/>
          </a:ln>
        </p:spPr>
      </p:sp>
      <p:sp>
        <p:nvSpPr>
          <p:cNvPr id="107" name="Shape 104"/>
          <p:cNvSpPr/>
          <p:nvPr/>
        </p:nvSpPr>
        <p:spPr>
          <a:xfrm flipV="1">
            <a:off x="3977640" y="1746504"/>
            <a:ext cx="1828800" cy="3374136"/>
          </a:xfrm>
          <a:prstGeom prst="line">
            <a:avLst/>
          </a:prstGeom>
          <a:noFill/>
          <a:ln w="6350">
            <a:solidFill>
              <a:srgbClr val="C9CEC6"/>
            </a:solidFill>
            <a:prstDash val="solid"/>
          </a:ln>
        </p:spPr>
      </p:sp>
      <p:sp>
        <p:nvSpPr>
          <p:cNvPr id="108" name="Shape 105"/>
          <p:cNvSpPr/>
          <p:nvPr/>
        </p:nvSpPr>
        <p:spPr>
          <a:xfrm flipV="1">
            <a:off x="3977640" y="2130552"/>
            <a:ext cx="1828800" cy="2990088"/>
          </a:xfrm>
          <a:prstGeom prst="line">
            <a:avLst/>
          </a:prstGeom>
          <a:noFill/>
          <a:ln w="6350">
            <a:solidFill>
              <a:srgbClr val="C9CEC6"/>
            </a:solidFill>
            <a:prstDash val="solid"/>
          </a:ln>
        </p:spPr>
      </p:sp>
      <p:sp>
        <p:nvSpPr>
          <p:cNvPr id="109" name="Shape 106"/>
          <p:cNvSpPr/>
          <p:nvPr/>
        </p:nvSpPr>
        <p:spPr>
          <a:xfrm flipV="1">
            <a:off x="3977640" y="2514600"/>
            <a:ext cx="1828800" cy="2606040"/>
          </a:xfrm>
          <a:prstGeom prst="line">
            <a:avLst/>
          </a:prstGeom>
          <a:noFill/>
          <a:ln w="6350">
            <a:solidFill>
              <a:srgbClr val="C9CEC6"/>
            </a:solidFill>
            <a:prstDash val="solid"/>
          </a:ln>
        </p:spPr>
      </p:sp>
      <p:sp>
        <p:nvSpPr>
          <p:cNvPr id="110" name="Shape 107"/>
          <p:cNvSpPr/>
          <p:nvPr/>
        </p:nvSpPr>
        <p:spPr>
          <a:xfrm flipV="1">
            <a:off x="3977640" y="2898648"/>
            <a:ext cx="1828800" cy="2221992"/>
          </a:xfrm>
          <a:prstGeom prst="line">
            <a:avLst/>
          </a:prstGeom>
          <a:noFill/>
          <a:ln w="6350">
            <a:solidFill>
              <a:srgbClr val="C9CEC6"/>
            </a:solidFill>
            <a:prstDash val="solid"/>
          </a:ln>
        </p:spPr>
      </p:sp>
      <p:sp>
        <p:nvSpPr>
          <p:cNvPr id="111" name="Shape 108"/>
          <p:cNvSpPr/>
          <p:nvPr/>
        </p:nvSpPr>
        <p:spPr>
          <a:xfrm flipV="1">
            <a:off x="3977640" y="3282696"/>
            <a:ext cx="1828800" cy="1837944"/>
          </a:xfrm>
          <a:prstGeom prst="line">
            <a:avLst/>
          </a:prstGeom>
          <a:noFill/>
          <a:ln w="6350">
            <a:solidFill>
              <a:srgbClr val="C9CEC6"/>
            </a:solidFill>
            <a:prstDash val="solid"/>
          </a:ln>
        </p:spPr>
      </p:sp>
      <p:sp>
        <p:nvSpPr>
          <p:cNvPr id="112" name="Shape 109"/>
          <p:cNvSpPr/>
          <p:nvPr/>
        </p:nvSpPr>
        <p:spPr>
          <a:xfrm flipV="1">
            <a:off x="3977640" y="3666744"/>
            <a:ext cx="1828800" cy="1453896"/>
          </a:xfrm>
          <a:prstGeom prst="line">
            <a:avLst/>
          </a:prstGeom>
          <a:noFill/>
          <a:ln w="6350">
            <a:solidFill>
              <a:srgbClr val="C9CEC6"/>
            </a:solidFill>
            <a:prstDash val="solid"/>
          </a:ln>
        </p:spPr>
      </p:sp>
      <p:sp>
        <p:nvSpPr>
          <p:cNvPr id="113" name="Shape 110"/>
          <p:cNvSpPr/>
          <p:nvPr/>
        </p:nvSpPr>
        <p:spPr>
          <a:xfrm flipV="1">
            <a:off x="3977640" y="4050792"/>
            <a:ext cx="1828800" cy="1069848"/>
          </a:xfrm>
          <a:prstGeom prst="line">
            <a:avLst/>
          </a:prstGeom>
          <a:noFill/>
          <a:ln w="6350">
            <a:solidFill>
              <a:srgbClr val="C9CEC6"/>
            </a:solidFill>
            <a:prstDash val="solid"/>
          </a:ln>
        </p:spPr>
      </p:sp>
      <p:sp>
        <p:nvSpPr>
          <p:cNvPr id="114" name="Shape 111"/>
          <p:cNvSpPr/>
          <p:nvPr/>
        </p:nvSpPr>
        <p:spPr>
          <a:xfrm flipV="1">
            <a:off x="3977640" y="4434840"/>
            <a:ext cx="1828800" cy="685800"/>
          </a:xfrm>
          <a:prstGeom prst="line">
            <a:avLst/>
          </a:prstGeom>
          <a:noFill/>
          <a:ln w="6350">
            <a:solidFill>
              <a:srgbClr val="C9CEC6"/>
            </a:solidFill>
            <a:prstDash val="solid"/>
          </a:ln>
        </p:spPr>
      </p:sp>
      <p:sp>
        <p:nvSpPr>
          <p:cNvPr id="115" name="Shape 112"/>
          <p:cNvSpPr/>
          <p:nvPr/>
        </p:nvSpPr>
        <p:spPr>
          <a:xfrm flipV="1">
            <a:off x="3977640" y="4818888"/>
            <a:ext cx="1828800" cy="301752"/>
          </a:xfrm>
          <a:prstGeom prst="line">
            <a:avLst/>
          </a:prstGeom>
          <a:noFill/>
          <a:ln w="6350">
            <a:solidFill>
              <a:srgbClr val="C9CEC6"/>
            </a:solidFill>
            <a:prstDash val="solid"/>
          </a:ln>
        </p:spPr>
      </p:sp>
      <p:sp>
        <p:nvSpPr>
          <p:cNvPr id="116" name="Shape 113"/>
          <p:cNvSpPr/>
          <p:nvPr/>
        </p:nvSpPr>
        <p:spPr>
          <a:xfrm>
            <a:off x="3977640" y="5120640"/>
            <a:ext cx="1828800" cy="82296"/>
          </a:xfrm>
          <a:prstGeom prst="line">
            <a:avLst/>
          </a:prstGeom>
          <a:noFill/>
          <a:ln w="6350">
            <a:solidFill>
              <a:srgbClr val="C9CEC6"/>
            </a:solidFill>
            <a:prstDash val="solid"/>
          </a:ln>
        </p:spPr>
      </p:sp>
      <p:sp>
        <p:nvSpPr>
          <p:cNvPr id="117" name="Shape 114"/>
          <p:cNvSpPr/>
          <p:nvPr/>
        </p:nvSpPr>
        <p:spPr>
          <a:xfrm>
            <a:off x="1938528" y="1755648"/>
            <a:ext cx="237744" cy="237744"/>
          </a:xfrm>
          <a:prstGeom prst="ellipse">
            <a:avLst/>
          </a:prstGeom>
          <a:solidFill>
            <a:srgbClr val="FFFFFF"/>
          </a:solidFill>
          <a:ln w="12700">
            <a:solidFill>
              <a:srgbClr val="6B7A65"/>
            </a:solidFill>
            <a:prstDash val="solid"/>
          </a:ln>
        </p:spPr>
      </p:sp>
      <p:sp>
        <p:nvSpPr>
          <p:cNvPr id="118" name="Shape 115"/>
          <p:cNvSpPr/>
          <p:nvPr/>
        </p:nvSpPr>
        <p:spPr>
          <a:xfrm>
            <a:off x="1938528" y="2395728"/>
            <a:ext cx="237744" cy="237744"/>
          </a:xfrm>
          <a:prstGeom prst="ellipse">
            <a:avLst/>
          </a:prstGeom>
          <a:solidFill>
            <a:srgbClr val="FFFFFF"/>
          </a:solidFill>
          <a:ln w="12700">
            <a:solidFill>
              <a:srgbClr val="6B7A65"/>
            </a:solidFill>
            <a:prstDash val="solid"/>
          </a:ln>
        </p:spPr>
      </p:sp>
      <p:sp>
        <p:nvSpPr>
          <p:cNvPr id="119" name="Shape 116"/>
          <p:cNvSpPr/>
          <p:nvPr/>
        </p:nvSpPr>
        <p:spPr>
          <a:xfrm>
            <a:off x="1938528" y="3035808"/>
            <a:ext cx="237744" cy="237744"/>
          </a:xfrm>
          <a:prstGeom prst="ellipse">
            <a:avLst/>
          </a:prstGeom>
          <a:solidFill>
            <a:srgbClr val="FFFFFF"/>
          </a:solidFill>
          <a:ln w="12700">
            <a:solidFill>
              <a:srgbClr val="6B7A65"/>
            </a:solidFill>
            <a:prstDash val="solid"/>
          </a:ln>
        </p:spPr>
      </p:sp>
      <p:sp>
        <p:nvSpPr>
          <p:cNvPr id="120" name="Shape 117"/>
          <p:cNvSpPr/>
          <p:nvPr/>
        </p:nvSpPr>
        <p:spPr>
          <a:xfrm>
            <a:off x="1938528" y="3675888"/>
            <a:ext cx="237744" cy="237744"/>
          </a:xfrm>
          <a:prstGeom prst="ellipse">
            <a:avLst/>
          </a:prstGeom>
          <a:solidFill>
            <a:srgbClr val="FFFFFF"/>
          </a:solidFill>
          <a:ln w="12700">
            <a:solidFill>
              <a:srgbClr val="6B7A65"/>
            </a:solidFill>
            <a:prstDash val="solid"/>
          </a:ln>
        </p:spPr>
      </p:sp>
      <p:sp>
        <p:nvSpPr>
          <p:cNvPr id="121" name="Shape 118"/>
          <p:cNvSpPr/>
          <p:nvPr/>
        </p:nvSpPr>
        <p:spPr>
          <a:xfrm>
            <a:off x="1938528" y="4315968"/>
            <a:ext cx="237744" cy="237744"/>
          </a:xfrm>
          <a:prstGeom prst="ellipse">
            <a:avLst/>
          </a:prstGeom>
          <a:solidFill>
            <a:srgbClr val="FFFFFF"/>
          </a:solidFill>
          <a:ln w="12700">
            <a:solidFill>
              <a:srgbClr val="6B7A65"/>
            </a:solidFill>
            <a:prstDash val="solid"/>
          </a:ln>
        </p:spPr>
      </p:sp>
      <p:sp>
        <p:nvSpPr>
          <p:cNvPr id="122" name="Shape 119"/>
          <p:cNvSpPr/>
          <p:nvPr/>
        </p:nvSpPr>
        <p:spPr>
          <a:xfrm>
            <a:off x="1938528" y="4956048"/>
            <a:ext cx="237744" cy="237744"/>
          </a:xfrm>
          <a:prstGeom prst="ellipse">
            <a:avLst/>
          </a:prstGeom>
          <a:solidFill>
            <a:srgbClr val="FFFFFF"/>
          </a:solidFill>
          <a:ln w="12700">
            <a:solidFill>
              <a:srgbClr val="6B7A65"/>
            </a:solidFill>
            <a:prstDash val="solid"/>
          </a:ln>
        </p:spPr>
      </p:sp>
      <p:sp>
        <p:nvSpPr>
          <p:cNvPr id="123" name="Shape 120"/>
          <p:cNvSpPr/>
          <p:nvPr/>
        </p:nvSpPr>
        <p:spPr>
          <a:xfrm>
            <a:off x="3858768" y="1709928"/>
            <a:ext cx="237744" cy="237744"/>
          </a:xfrm>
          <a:prstGeom prst="ellipse">
            <a:avLst/>
          </a:prstGeom>
          <a:solidFill>
            <a:srgbClr val="FFFFFF"/>
          </a:solidFill>
          <a:ln w="12700">
            <a:solidFill>
              <a:srgbClr val="6B7A65"/>
            </a:solidFill>
            <a:prstDash val="solid"/>
          </a:ln>
        </p:spPr>
      </p:sp>
      <p:sp>
        <p:nvSpPr>
          <p:cNvPr id="124" name="Shape 121"/>
          <p:cNvSpPr/>
          <p:nvPr/>
        </p:nvSpPr>
        <p:spPr>
          <a:xfrm>
            <a:off x="3858768" y="2258568"/>
            <a:ext cx="237744" cy="237744"/>
          </a:xfrm>
          <a:prstGeom prst="ellipse">
            <a:avLst/>
          </a:prstGeom>
          <a:solidFill>
            <a:srgbClr val="FFFFFF"/>
          </a:solidFill>
          <a:ln w="12700">
            <a:solidFill>
              <a:srgbClr val="6B7A65"/>
            </a:solidFill>
            <a:prstDash val="solid"/>
          </a:ln>
        </p:spPr>
      </p:sp>
      <p:sp>
        <p:nvSpPr>
          <p:cNvPr id="125" name="Shape 122"/>
          <p:cNvSpPr/>
          <p:nvPr/>
        </p:nvSpPr>
        <p:spPr>
          <a:xfrm>
            <a:off x="3858768" y="2807208"/>
            <a:ext cx="237744" cy="237744"/>
          </a:xfrm>
          <a:prstGeom prst="ellipse">
            <a:avLst/>
          </a:prstGeom>
          <a:solidFill>
            <a:srgbClr val="FFFFFF"/>
          </a:solidFill>
          <a:ln w="12700">
            <a:solidFill>
              <a:srgbClr val="6B7A65"/>
            </a:solidFill>
            <a:prstDash val="solid"/>
          </a:ln>
        </p:spPr>
      </p:sp>
      <p:sp>
        <p:nvSpPr>
          <p:cNvPr id="126" name="Shape 123"/>
          <p:cNvSpPr/>
          <p:nvPr/>
        </p:nvSpPr>
        <p:spPr>
          <a:xfrm>
            <a:off x="3858768" y="3355848"/>
            <a:ext cx="237744" cy="237744"/>
          </a:xfrm>
          <a:prstGeom prst="ellipse">
            <a:avLst/>
          </a:prstGeom>
          <a:solidFill>
            <a:srgbClr val="FFFFFF"/>
          </a:solidFill>
          <a:ln w="12700">
            <a:solidFill>
              <a:srgbClr val="6B7A65"/>
            </a:solidFill>
            <a:prstDash val="solid"/>
          </a:ln>
        </p:spPr>
      </p:sp>
      <p:sp>
        <p:nvSpPr>
          <p:cNvPr id="127" name="Shape 124"/>
          <p:cNvSpPr/>
          <p:nvPr/>
        </p:nvSpPr>
        <p:spPr>
          <a:xfrm>
            <a:off x="3858768" y="3904488"/>
            <a:ext cx="237744" cy="237744"/>
          </a:xfrm>
          <a:prstGeom prst="ellipse">
            <a:avLst/>
          </a:prstGeom>
          <a:solidFill>
            <a:srgbClr val="FFFFFF"/>
          </a:solidFill>
          <a:ln w="12700">
            <a:solidFill>
              <a:srgbClr val="6B7A65"/>
            </a:solidFill>
            <a:prstDash val="solid"/>
          </a:ln>
        </p:spPr>
      </p:sp>
      <p:sp>
        <p:nvSpPr>
          <p:cNvPr id="128" name="Shape 125"/>
          <p:cNvSpPr/>
          <p:nvPr/>
        </p:nvSpPr>
        <p:spPr>
          <a:xfrm>
            <a:off x="3858768" y="4453128"/>
            <a:ext cx="237744" cy="237744"/>
          </a:xfrm>
          <a:prstGeom prst="ellipse">
            <a:avLst/>
          </a:prstGeom>
          <a:solidFill>
            <a:srgbClr val="FFFFFF"/>
          </a:solidFill>
          <a:ln w="12700">
            <a:solidFill>
              <a:srgbClr val="6B7A65"/>
            </a:solidFill>
            <a:prstDash val="solid"/>
          </a:ln>
        </p:spPr>
      </p:sp>
      <p:sp>
        <p:nvSpPr>
          <p:cNvPr id="129" name="Shape 126"/>
          <p:cNvSpPr/>
          <p:nvPr/>
        </p:nvSpPr>
        <p:spPr>
          <a:xfrm>
            <a:off x="3858768" y="5001768"/>
            <a:ext cx="237744" cy="237744"/>
          </a:xfrm>
          <a:prstGeom prst="ellipse">
            <a:avLst/>
          </a:prstGeom>
          <a:solidFill>
            <a:srgbClr val="FFFFFF"/>
          </a:solidFill>
          <a:ln w="12700">
            <a:solidFill>
              <a:srgbClr val="6B7A65"/>
            </a:solidFill>
            <a:prstDash val="solid"/>
          </a:ln>
        </p:spPr>
      </p:sp>
      <p:sp>
        <p:nvSpPr>
          <p:cNvPr id="130" name="Shape 127"/>
          <p:cNvSpPr/>
          <p:nvPr/>
        </p:nvSpPr>
        <p:spPr>
          <a:xfrm>
            <a:off x="5687568" y="1627632"/>
            <a:ext cx="237744" cy="237744"/>
          </a:xfrm>
          <a:prstGeom prst="ellipse">
            <a:avLst/>
          </a:prstGeom>
          <a:solidFill>
            <a:srgbClr val="6B7A65"/>
          </a:solidFill>
          <a:ln w="12700">
            <a:solidFill>
              <a:srgbClr val="6B7A65"/>
            </a:solidFill>
            <a:prstDash val="solid"/>
          </a:ln>
        </p:spPr>
      </p:sp>
      <p:sp>
        <p:nvSpPr>
          <p:cNvPr id="131" name="Text 128"/>
          <p:cNvSpPr txBox="1"/>
          <p:nvPr/>
        </p:nvSpPr>
        <p:spPr>
          <a:xfrm>
            <a:off x="5971032" y="1627632"/>
            <a:ext cx="274320" cy="237744"/>
          </a:xfrm>
          <a:prstGeom prst="rect">
            <a:avLst/>
          </a:prstGeom>
          <a:noFill/>
          <a:ln/>
        </p:spPr>
        <p:txBody>
          <a:bodyPr wrap="square" lIns="0" tIns="0" rIns="0" bIns="0" rtlCol="0" anchor="ctr"/>
          <a:lstStyle/>
          <a:p>
            <a:pPr indent="0" marL="0">
              <a:buNone/>
            </a:pPr>
            <a:r>
              <a:rPr lang="en-US" sz="1000" dirty="0">
                <a:solidFill>
                  <a:srgbClr val="404040"/>
                </a:solidFill>
              </a:rPr>
              <a:t>0</a:t>
            </a:r>
            <a:endParaRPr lang="en-US" sz="1000" dirty="0"/>
          </a:p>
        </p:txBody>
      </p:sp>
      <p:sp>
        <p:nvSpPr>
          <p:cNvPr id="132" name="Shape 129"/>
          <p:cNvSpPr/>
          <p:nvPr/>
        </p:nvSpPr>
        <p:spPr>
          <a:xfrm>
            <a:off x="5687568" y="2011680"/>
            <a:ext cx="237744" cy="237744"/>
          </a:xfrm>
          <a:prstGeom prst="ellipse">
            <a:avLst/>
          </a:prstGeom>
          <a:solidFill>
            <a:srgbClr val="6B7A65"/>
          </a:solidFill>
          <a:ln w="12700">
            <a:solidFill>
              <a:srgbClr val="6B7A65"/>
            </a:solidFill>
            <a:prstDash val="solid"/>
          </a:ln>
        </p:spPr>
      </p:sp>
      <p:sp>
        <p:nvSpPr>
          <p:cNvPr id="133" name="Text 130"/>
          <p:cNvSpPr txBox="1"/>
          <p:nvPr/>
        </p:nvSpPr>
        <p:spPr>
          <a:xfrm>
            <a:off x="5971032" y="2011680"/>
            <a:ext cx="274320" cy="237744"/>
          </a:xfrm>
          <a:prstGeom prst="rect">
            <a:avLst/>
          </a:prstGeom>
          <a:noFill/>
          <a:ln/>
        </p:spPr>
        <p:txBody>
          <a:bodyPr wrap="square" lIns="0" tIns="0" rIns="0" bIns="0" rtlCol="0" anchor="ctr"/>
          <a:lstStyle/>
          <a:p>
            <a:pPr indent="0" marL="0">
              <a:buNone/>
            </a:pPr>
            <a:r>
              <a:rPr lang="en-US" sz="1000" dirty="0">
                <a:solidFill>
                  <a:srgbClr val="404040"/>
                </a:solidFill>
              </a:rPr>
              <a:t>1</a:t>
            </a:r>
            <a:endParaRPr lang="en-US" sz="1000" dirty="0"/>
          </a:p>
        </p:txBody>
      </p:sp>
      <p:sp>
        <p:nvSpPr>
          <p:cNvPr id="134" name="Shape 131"/>
          <p:cNvSpPr/>
          <p:nvPr/>
        </p:nvSpPr>
        <p:spPr>
          <a:xfrm>
            <a:off x="5687568" y="2395728"/>
            <a:ext cx="237744" cy="237744"/>
          </a:xfrm>
          <a:prstGeom prst="ellipse">
            <a:avLst/>
          </a:prstGeom>
          <a:solidFill>
            <a:srgbClr val="6B7A65"/>
          </a:solidFill>
          <a:ln w="12700">
            <a:solidFill>
              <a:srgbClr val="6B7A65"/>
            </a:solidFill>
            <a:prstDash val="solid"/>
          </a:ln>
        </p:spPr>
      </p:sp>
      <p:sp>
        <p:nvSpPr>
          <p:cNvPr id="135" name="Text 132"/>
          <p:cNvSpPr txBox="1"/>
          <p:nvPr/>
        </p:nvSpPr>
        <p:spPr>
          <a:xfrm>
            <a:off x="5971032" y="2395728"/>
            <a:ext cx="274320" cy="237744"/>
          </a:xfrm>
          <a:prstGeom prst="rect">
            <a:avLst/>
          </a:prstGeom>
          <a:noFill/>
          <a:ln/>
        </p:spPr>
        <p:txBody>
          <a:bodyPr wrap="square" lIns="0" tIns="0" rIns="0" bIns="0" rtlCol="0" anchor="ctr"/>
          <a:lstStyle/>
          <a:p>
            <a:pPr indent="0" marL="0">
              <a:buNone/>
            </a:pPr>
            <a:r>
              <a:rPr lang="en-US" sz="1000" dirty="0">
                <a:solidFill>
                  <a:srgbClr val="404040"/>
                </a:solidFill>
              </a:rPr>
              <a:t>2</a:t>
            </a:r>
            <a:endParaRPr lang="en-US" sz="1000" dirty="0"/>
          </a:p>
        </p:txBody>
      </p:sp>
      <p:sp>
        <p:nvSpPr>
          <p:cNvPr id="136" name="Shape 133"/>
          <p:cNvSpPr/>
          <p:nvPr/>
        </p:nvSpPr>
        <p:spPr>
          <a:xfrm>
            <a:off x="5687568" y="2779776"/>
            <a:ext cx="237744" cy="237744"/>
          </a:xfrm>
          <a:prstGeom prst="ellipse">
            <a:avLst/>
          </a:prstGeom>
          <a:solidFill>
            <a:srgbClr val="6B7A65"/>
          </a:solidFill>
          <a:ln w="12700">
            <a:solidFill>
              <a:srgbClr val="6B7A65"/>
            </a:solidFill>
            <a:prstDash val="solid"/>
          </a:ln>
        </p:spPr>
      </p:sp>
      <p:sp>
        <p:nvSpPr>
          <p:cNvPr id="137" name="Text 134"/>
          <p:cNvSpPr txBox="1"/>
          <p:nvPr/>
        </p:nvSpPr>
        <p:spPr>
          <a:xfrm>
            <a:off x="5971032" y="2779776"/>
            <a:ext cx="274320" cy="237744"/>
          </a:xfrm>
          <a:prstGeom prst="rect">
            <a:avLst/>
          </a:prstGeom>
          <a:noFill/>
          <a:ln/>
        </p:spPr>
        <p:txBody>
          <a:bodyPr wrap="square" lIns="0" tIns="0" rIns="0" bIns="0" rtlCol="0" anchor="ctr"/>
          <a:lstStyle/>
          <a:p>
            <a:pPr indent="0" marL="0">
              <a:buNone/>
            </a:pPr>
            <a:r>
              <a:rPr lang="en-US" sz="1000" dirty="0">
                <a:solidFill>
                  <a:srgbClr val="404040"/>
                </a:solidFill>
              </a:rPr>
              <a:t>3</a:t>
            </a:r>
            <a:endParaRPr lang="en-US" sz="1000" dirty="0"/>
          </a:p>
        </p:txBody>
      </p:sp>
      <p:sp>
        <p:nvSpPr>
          <p:cNvPr id="138" name="Shape 135"/>
          <p:cNvSpPr/>
          <p:nvPr/>
        </p:nvSpPr>
        <p:spPr>
          <a:xfrm>
            <a:off x="5687568" y="3163824"/>
            <a:ext cx="237744" cy="237744"/>
          </a:xfrm>
          <a:prstGeom prst="ellipse">
            <a:avLst/>
          </a:prstGeom>
          <a:solidFill>
            <a:srgbClr val="6B7A65"/>
          </a:solidFill>
          <a:ln w="12700">
            <a:solidFill>
              <a:srgbClr val="6B7A65"/>
            </a:solidFill>
            <a:prstDash val="solid"/>
          </a:ln>
        </p:spPr>
      </p:sp>
      <p:sp>
        <p:nvSpPr>
          <p:cNvPr id="139" name="Text 136"/>
          <p:cNvSpPr txBox="1"/>
          <p:nvPr/>
        </p:nvSpPr>
        <p:spPr>
          <a:xfrm>
            <a:off x="5971032" y="3163824"/>
            <a:ext cx="274320" cy="237744"/>
          </a:xfrm>
          <a:prstGeom prst="rect">
            <a:avLst/>
          </a:prstGeom>
          <a:noFill/>
          <a:ln/>
        </p:spPr>
        <p:txBody>
          <a:bodyPr wrap="square" lIns="0" tIns="0" rIns="0" bIns="0" rtlCol="0" anchor="ctr"/>
          <a:lstStyle/>
          <a:p>
            <a:pPr indent="0" marL="0">
              <a:buNone/>
            </a:pPr>
            <a:r>
              <a:rPr lang="en-US" sz="1000" dirty="0">
                <a:solidFill>
                  <a:srgbClr val="404040"/>
                </a:solidFill>
              </a:rPr>
              <a:t>4</a:t>
            </a:r>
            <a:endParaRPr lang="en-US" sz="1000" dirty="0"/>
          </a:p>
        </p:txBody>
      </p:sp>
      <p:sp>
        <p:nvSpPr>
          <p:cNvPr id="140" name="Shape 137"/>
          <p:cNvSpPr/>
          <p:nvPr/>
        </p:nvSpPr>
        <p:spPr>
          <a:xfrm>
            <a:off x="5687568" y="3547872"/>
            <a:ext cx="237744" cy="237744"/>
          </a:xfrm>
          <a:prstGeom prst="ellipse">
            <a:avLst/>
          </a:prstGeom>
          <a:solidFill>
            <a:srgbClr val="6B7A65"/>
          </a:solidFill>
          <a:ln w="12700">
            <a:solidFill>
              <a:srgbClr val="6B7A65"/>
            </a:solidFill>
            <a:prstDash val="solid"/>
          </a:ln>
        </p:spPr>
      </p:sp>
      <p:sp>
        <p:nvSpPr>
          <p:cNvPr id="141" name="Text 138"/>
          <p:cNvSpPr txBox="1"/>
          <p:nvPr/>
        </p:nvSpPr>
        <p:spPr>
          <a:xfrm>
            <a:off x="5971032" y="3547872"/>
            <a:ext cx="274320" cy="237744"/>
          </a:xfrm>
          <a:prstGeom prst="rect">
            <a:avLst/>
          </a:prstGeom>
          <a:noFill/>
          <a:ln/>
        </p:spPr>
        <p:txBody>
          <a:bodyPr wrap="square" lIns="0" tIns="0" rIns="0" bIns="0" rtlCol="0" anchor="ctr"/>
          <a:lstStyle/>
          <a:p>
            <a:pPr indent="0" marL="0">
              <a:buNone/>
            </a:pPr>
            <a:r>
              <a:rPr lang="en-US" sz="1000" dirty="0">
                <a:solidFill>
                  <a:srgbClr val="404040"/>
                </a:solidFill>
              </a:rPr>
              <a:t>5</a:t>
            </a:r>
            <a:endParaRPr lang="en-US" sz="1000" dirty="0"/>
          </a:p>
        </p:txBody>
      </p:sp>
      <p:sp>
        <p:nvSpPr>
          <p:cNvPr id="142" name="Shape 139"/>
          <p:cNvSpPr/>
          <p:nvPr/>
        </p:nvSpPr>
        <p:spPr>
          <a:xfrm>
            <a:off x="5687568" y="3931920"/>
            <a:ext cx="237744" cy="237744"/>
          </a:xfrm>
          <a:prstGeom prst="ellipse">
            <a:avLst/>
          </a:prstGeom>
          <a:solidFill>
            <a:srgbClr val="6B7A65"/>
          </a:solidFill>
          <a:ln w="12700">
            <a:solidFill>
              <a:srgbClr val="6B7A65"/>
            </a:solidFill>
            <a:prstDash val="solid"/>
          </a:ln>
        </p:spPr>
      </p:sp>
      <p:sp>
        <p:nvSpPr>
          <p:cNvPr id="143" name="Text 140"/>
          <p:cNvSpPr txBox="1"/>
          <p:nvPr/>
        </p:nvSpPr>
        <p:spPr>
          <a:xfrm>
            <a:off x="5971032" y="3931920"/>
            <a:ext cx="274320" cy="237744"/>
          </a:xfrm>
          <a:prstGeom prst="rect">
            <a:avLst/>
          </a:prstGeom>
          <a:noFill/>
          <a:ln/>
        </p:spPr>
        <p:txBody>
          <a:bodyPr wrap="square" lIns="0" tIns="0" rIns="0" bIns="0" rtlCol="0" anchor="ctr"/>
          <a:lstStyle/>
          <a:p>
            <a:pPr indent="0" marL="0">
              <a:buNone/>
            </a:pPr>
            <a:r>
              <a:rPr lang="en-US" sz="1000" dirty="0">
                <a:solidFill>
                  <a:srgbClr val="404040"/>
                </a:solidFill>
              </a:rPr>
              <a:t>6</a:t>
            </a:r>
            <a:endParaRPr lang="en-US" sz="1000" dirty="0"/>
          </a:p>
        </p:txBody>
      </p:sp>
      <p:sp>
        <p:nvSpPr>
          <p:cNvPr id="144" name="Shape 141"/>
          <p:cNvSpPr/>
          <p:nvPr/>
        </p:nvSpPr>
        <p:spPr>
          <a:xfrm>
            <a:off x="5687568" y="4315968"/>
            <a:ext cx="237744" cy="237744"/>
          </a:xfrm>
          <a:prstGeom prst="ellipse">
            <a:avLst/>
          </a:prstGeom>
          <a:solidFill>
            <a:srgbClr val="6B7A65"/>
          </a:solidFill>
          <a:ln w="12700">
            <a:solidFill>
              <a:srgbClr val="6B7A65"/>
            </a:solidFill>
            <a:prstDash val="solid"/>
          </a:ln>
        </p:spPr>
      </p:sp>
      <p:sp>
        <p:nvSpPr>
          <p:cNvPr id="145" name="Text 142"/>
          <p:cNvSpPr txBox="1"/>
          <p:nvPr/>
        </p:nvSpPr>
        <p:spPr>
          <a:xfrm>
            <a:off x="5971032" y="4315968"/>
            <a:ext cx="274320" cy="237744"/>
          </a:xfrm>
          <a:prstGeom prst="rect">
            <a:avLst/>
          </a:prstGeom>
          <a:noFill/>
          <a:ln/>
        </p:spPr>
        <p:txBody>
          <a:bodyPr wrap="square" lIns="0" tIns="0" rIns="0" bIns="0" rtlCol="0" anchor="ctr"/>
          <a:lstStyle/>
          <a:p>
            <a:pPr indent="0" marL="0">
              <a:buNone/>
            </a:pPr>
            <a:r>
              <a:rPr lang="en-US" sz="1000" dirty="0">
                <a:solidFill>
                  <a:srgbClr val="404040"/>
                </a:solidFill>
              </a:rPr>
              <a:t>7</a:t>
            </a:r>
            <a:endParaRPr lang="en-US" sz="1000" dirty="0"/>
          </a:p>
        </p:txBody>
      </p:sp>
      <p:sp>
        <p:nvSpPr>
          <p:cNvPr id="146" name="Shape 143"/>
          <p:cNvSpPr/>
          <p:nvPr/>
        </p:nvSpPr>
        <p:spPr>
          <a:xfrm>
            <a:off x="5687568" y="4700016"/>
            <a:ext cx="237744" cy="237744"/>
          </a:xfrm>
          <a:prstGeom prst="ellipse">
            <a:avLst/>
          </a:prstGeom>
          <a:solidFill>
            <a:srgbClr val="6B7A65"/>
          </a:solidFill>
          <a:ln w="12700">
            <a:solidFill>
              <a:srgbClr val="6B7A65"/>
            </a:solidFill>
            <a:prstDash val="solid"/>
          </a:ln>
        </p:spPr>
      </p:sp>
      <p:sp>
        <p:nvSpPr>
          <p:cNvPr id="147" name="Text 144"/>
          <p:cNvSpPr txBox="1"/>
          <p:nvPr/>
        </p:nvSpPr>
        <p:spPr>
          <a:xfrm>
            <a:off x="5971032" y="4700016"/>
            <a:ext cx="274320" cy="237744"/>
          </a:xfrm>
          <a:prstGeom prst="rect">
            <a:avLst/>
          </a:prstGeom>
          <a:noFill/>
          <a:ln/>
        </p:spPr>
        <p:txBody>
          <a:bodyPr wrap="square" lIns="0" tIns="0" rIns="0" bIns="0" rtlCol="0" anchor="ctr"/>
          <a:lstStyle/>
          <a:p>
            <a:pPr indent="0" marL="0">
              <a:buNone/>
            </a:pPr>
            <a:r>
              <a:rPr lang="en-US" sz="1000" dirty="0">
                <a:solidFill>
                  <a:srgbClr val="404040"/>
                </a:solidFill>
              </a:rPr>
              <a:t>8</a:t>
            </a:r>
            <a:endParaRPr lang="en-US" sz="1000" dirty="0"/>
          </a:p>
        </p:txBody>
      </p:sp>
      <p:sp>
        <p:nvSpPr>
          <p:cNvPr id="148" name="Shape 145"/>
          <p:cNvSpPr/>
          <p:nvPr/>
        </p:nvSpPr>
        <p:spPr>
          <a:xfrm>
            <a:off x="5687568" y="5084064"/>
            <a:ext cx="237744" cy="237744"/>
          </a:xfrm>
          <a:prstGeom prst="ellipse">
            <a:avLst/>
          </a:prstGeom>
          <a:solidFill>
            <a:srgbClr val="6B7A65"/>
          </a:solidFill>
          <a:ln w="12700">
            <a:solidFill>
              <a:srgbClr val="6B7A65"/>
            </a:solidFill>
            <a:prstDash val="solid"/>
          </a:ln>
        </p:spPr>
      </p:sp>
      <p:sp>
        <p:nvSpPr>
          <p:cNvPr id="149" name="Text 146"/>
          <p:cNvSpPr txBox="1"/>
          <p:nvPr/>
        </p:nvSpPr>
        <p:spPr>
          <a:xfrm>
            <a:off x="5971032" y="5084064"/>
            <a:ext cx="274320" cy="237744"/>
          </a:xfrm>
          <a:prstGeom prst="rect">
            <a:avLst/>
          </a:prstGeom>
          <a:noFill/>
          <a:ln/>
        </p:spPr>
        <p:txBody>
          <a:bodyPr wrap="square" lIns="0" tIns="0" rIns="0" bIns="0" rtlCol="0" anchor="ctr"/>
          <a:lstStyle/>
          <a:p>
            <a:pPr indent="0" marL="0">
              <a:buNone/>
            </a:pPr>
            <a:r>
              <a:rPr lang="en-US" sz="1000" dirty="0">
                <a:solidFill>
                  <a:srgbClr val="404040"/>
                </a:solidFill>
              </a:rPr>
              <a:t>9</a:t>
            </a:r>
            <a:endParaRPr lang="en-US" sz="1000" dirty="0"/>
          </a:p>
        </p:txBody>
      </p:sp>
      <p:pic>
        <p:nvPicPr>
          <p:cNvPr id="150" name="Image 0" descr="input digit">    </p:cNvPr>
          <p:cNvPicPr>
            <a:picLocks noChangeAspect="1"/>
          </p:cNvPicPr>
          <p:nvPr/>
        </p:nvPicPr>
        <p:blipFill>
          <a:blip r:embed="rId1"/>
          <a:stretch>
            <a:fillRect/>
          </a:stretch>
        </p:blipFill>
        <p:spPr>
          <a:xfrm>
            <a:off x="457200" y="2880360"/>
            <a:ext cx="1143000" cy="1143000"/>
          </a:xfrm>
          <a:prstGeom prst="rect">
            <a:avLst/>
          </a:prstGeom>
        </p:spPr>
      </p:pic>
      <p:sp>
        <p:nvSpPr>
          <p:cNvPr id="151" name="Shape 147"/>
          <p:cNvSpPr/>
          <p:nvPr/>
        </p:nvSpPr>
        <p:spPr>
          <a:xfrm>
            <a:off x="1627632" y="3355848"/>
            <a:ext cx="228600" cy="201168"/>
          </a:xfrm>
          <a:prstGeom prst="rightArrow">
            <a:avLst/>
          </a:prstGeom>
          <a:solidFill>
            <a:srgbClr val="A5A5A5"/>
          </a:solidFill>
          <a:ln w="12700">
            <a:solidFill>
              <a:srgbClr val="A5A5A5"/>
            </a:solidFill>
            <a:prstDash val="solid"/>
          </a:ln>
        </p:spPr>
      </p:sp>
      <p:sp>
        <p:nvSpPr>
          <p:cNvPr id="152" name="Text 148"/>
          <p:cNvSpPr txBox="1"/>
          <p:nvPr/>
        </p:nvSpPr>
        <p:spPr>
          <a:xfrm>
            <a:off x="1325880" y="5486400"/>
            <a:ext cx="1463040" cy="457200"/>
          </a:xfrm>
          <a:prstGeom prst="rect">
            <a:avLst/>
          </a:prstGeom>
          <a:noFill/>
          <a:ln/>
        </p:spPr>
        <p:txBody>
          <a:bodyPr wrap="square" lIns="0" tIns="0" rIns="0" bIns="0" rtlCol="0" anchor="ctr"/>
          <a:lstStyle/>
          <a:p>
            <a:pPr algn="ctr" indent="0" marL="0">
              <a:buNone/>
            </a:pPr>
            <a:r>
              <a:rPr lang="en-US" sz="1100" b="1" dirty="0">
                <a:solidFill>
                  <a:srgbClr val="404040"/>
                </a:solidFill>
              </a:rPr>
              <a:t>784 inputs</a:t>
            </a:r>
            <a:endParaRPr lang="en-US" sz="1100" dirty="0"/>
          </a:p>
          <a:p>
            <a:pPr algn="ctr" indent="0" marL="0">
              <a:buNone/>
            </a:pPr>
            <a:r>
              <a:rPr lang="en-US" sz="1100" dirty="0">
                <a:solidFill>
                  <a:srgbClr val="7F7F7F"/>
                </a:solidFill>
              </a:rPr>
              <a:t>28 × 28 pixels</a:t>
            </a:r>
            <a:endParaRPr lang="en-US" sz="1100" dirty="0"/>
          </a:p>
        </p:txBody>
      </p:sp>
      <p:sp>
        <p:nvSpPr>
          <p:cNvPr id="153" name="Text 149"/>
          <p:cNvSpPr txBox="1"/>
          <p:nvPr/>
        </p:nvSpPr>
        <p:spPr>
          <a:xfrm>
            <a:off x="3246120" y="5486400"/>
            <a:ext cx="1463040" cy="457200"/>
          </a:xfrm>
          <a:prstGeom prst="rect">
            <a:avLst/>
          </a:prstGeom>
          <a:noFill/>
          <a:ln/>
        </p:spPr>
        <p:txBody>
          <a:bodyPr wrap="square" lIns="0" tIns="0" rIns="0" bIns="0" rtlCol="0" anchor="ctr"/>
          <a:lstStyle/>
          <a:p>
            <a:pPr algn="ctr" indent="0" marL="0">
              <a:buNone/>
            </a:pPr>
            <a:r>
              <a:rPr lang="en-US" sz="1100" b="1" dirty="0">
                <a:solidFill>
                  <a:srgbClr val="404040"/>
                </a:solidFill>
              </a:rPr>
              <a:t>128 hidden</a:t>
            </a:r>
            <a:endParaRPr lang="en-US" sz="1100" dirty="0"/>
          </a:p>
          <a:p>
            <a:pPr algn="ctr" indent="0" marL="0">
              <a:buNone/>
            </a:pPr>
            <a:r>
              <a:rPr lang="en-US" sz="1100" dirty="0">
                <a:solidFill>
                  <a:srgbClr val="7F7F7F"/>
                </a:solidFill>
              </a:rPr>
              <a:t>sigmoid</a:t>
            </a:r>
            <a:endParaRPr lang="en-US" sz="1100" dirty="0"/>
          </a:p>
        </p:txBody>
      </p:sp>
      <p:sp>
        <p:nvSpPr>
          <p:cNvPr id="154" name="Text 150"/>
          <p:cNvSpPr txBox="1"/>
          <p:nvPr/>
        </p:nvSpPr>
        <p:spPr>
          <a:xfrm>
            <a:off x="5074920" y="5486400"/>
            <a:ext cx="1463040" cy="457200"/>
          </a:xfrm>
          <a:prstGeom prst="rect">
            <a:avLst/>
          </a:prstGeom>
          <a:noFill/>
          <a:ln/>
        </p:spPr>
        <p:txBody>
          <a:bodyPr wrap="square" lIns="0" tIns="0" rIns="0" bIns="0" rtlCol="0" anchor="ctr"/>
          <a:lstStyle/>
          <a:p>
            <a:pPr algn="ctr" indent="0" marL="0">
              <a:buNone/>
            </a:pPr>
            <a:r>
              <a:rPr lang="en-US" sz="1100" b="1" dirty="0">
                <a:solidFill>
                  <a:srgbClr val="404040"/>
                </a:solidFill>
              </a:rPr>
              <a:t>10 outputs</a:t>
            </a:r>
            <a:endParaRPr lang="en-US" sz="1100" dirty="0"/>
          </a:p>
          <a:p>
            <a:pPr algn="ctr" indent="0" marL="0">
              <a:buNone/>
            </a:pPr>
            <a:r>
              <a:rPr lang="en-US" sz="1100" dirty="0">
                <a:solidFill>
                  <a:srgbClr val="7F7F7F"/>
                </a:solidFill>
              </a:rPr>
              <a:t>one per digit</a:t>
            </a:r>
            <a:endParaRPr lang="en-US" sz="1100" dirty="0"/>
          </a:p>
        </p:txBody>
      </p:sp>
      <p:sp>
        <p:nvSpPr>
          <p:cNvPr id="155" name="Text 151"/>
          <p:cNvSpPr txBox="1"/>
          <p:nvPr/>
        </p:nvSpPr>
        <p:spPr>
          <a:xfrm>
            <a:off x="6949440" y="1828800"/>
            <a:ext cx="4754880" cy="32918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404040"/>
                </a:solidFill>
              </a:rPr>
              <a:t>Each layer = weight matrix W + bias b</a:t>
            </a:r>
            <a:endParaRPr lang="en-US" sz="1700" dirty="0"/>
          </a:p>
          <a:p>
            <a:pPr marL="342900" indent="-342900">
              <a:spcAft>
                <a:spcPts val="600"/>
              </a:spcAft>
              <a:buSzPct val="100000"/>
              <a:buChar char="•"/>
            </a:pPr>
            <a:r>
              <a:rPr lang="en-US" sz="1700" dirty="0">
                <a:solidFill>
                  <a:srgbClr val="404040"/>
                </a:solidFill>
              </a:rPr>
              <a:t>Forward: h = W·V + b,  V = θ(h)</a:t>
            </a:r>
            <a:endParaRPr lang="en-US" sz="1700" dirty="0"/>
          </a:p>
          <a:p>
            <a:pPr marL="342900" indent="-342900">
              <a:spcAft>
                <a:spcPts val="600"/>
              </a:spcAft>
              <a:buSzPct val="100000"/>
              <a:buChar char="•"/>
            </a:pPr>
            <a:r>
              <a:rPr lang="en-US" sz="1700" dirty="0">
                <a:solidFill>
                  <a:srgbClr val="404040"/>
                </a:solidFill>
              </a:rPr>
              <a:t>Backward: δ = (Wᵀ δ) ⊙ θ'(h)</a:t>
            </a:r>
            <a:endParaRPr lang="en-US" sz="1700" dirty="0"/>
          </a:p>
          <a:p>
            <a:pPr marL="342900" indent="-342900">
              <a:spcAft>
                <a:spcPts val="600"/>
              </a:spcAft>
              <a:buSzPct val="100000"/>
              <a:buChar char="•"/>
            </a:pPr>
            <a:r>
              <a:rPr lang="en-US" sz="1700" dirty="0">
                <a:solidFill>
                  <a:srgbClr val="404040"/>
                </a:solidFill>
              </a:rPr>
              <a:t>Batch = columns of X → one matmul per layer</a:t>
            </a:r>
            <a:endParaRPr lang="en-US" sz="1700" dirty="0"/>
          </a:p>
          <a:p>
            <a:pPr marL="342900" indent="-342900">
              <a:spcAft>
                <a:spcPts val="600"/>
              </a:spcAft>
              <a:buSzPct val="100000"/>
              <a:buChar char="•"/>
            </a:pPr>
            <a:r>
              <a:rPr lang="en-US" sz="1700" dirty="0">
                <a:solidFill>
                  <a:srgbClr val="404040"/>
                </a:solidFill>
              </a:rPr>
              <a:t>Prediction = argmax of the 10 outputs</a:t>
            </a:r>
            <a:endParaRPr lang="en-US" sz="1700" dirty="0"/>
          </a:p>
          <a:p>
            <a:pPr marL="342900" indent="-342900">
              <a:spcAft>
                <a:spcPts val="600"/>
              </a:spcAft>
              <a:buSzPct val="100000"/>
              <a:buChar char="•"/>
            </a:pPr>
            <a:r>
              <a:rPr lang="en-US" sz="1700" dirty="0">
                <a:solidFill>
                  <a:srgbClr val="404040"/>
                </a:solidFill>
              </a:rPr>
              <a:t>Optimizers are swappable: GD, Momentum, Adam</a:t>
            </a:r>
            <a:endParaRPr lang="en-US" sz="1700" dirty="0"/>
          </a:p>
        </p:txBody>
      </p:sp>
      <p:sp>
        <p:nvSpPr>
          <p:cNvPr id="25" name="Slide Number Placeholder 0"/>
          <p:cNvSpPr>
            <a:spLocks noGrp="1"/>
          </p:cNvSpPr>
          <p:nvPr>
            <p:ph type="sldNum" sz="quarter" idx="4294967295"/>
          </p:nvPr>
        </p:nvSpPr>
        <p:spPr>
          <a:xfrm>
            <a:off x="11658600" y="6217920"/>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7F7F7F"/>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11247120" cy="548640"/>
          </a:xfrm>
          <a:prstGeom prst="rect">
            <a:avLst/>
          </a:prstGeom>
          <a:noFill/>
          <a:ln/>
        </p:spPr>
        <p:txBody>
          <a:bodyPr wrap="square" lIns="0" tIns="0" rIns="0" bIns="0" rtlCol="0" anchor="t"/>
          <a:lstStyle/>
          <a:p>
            <a:pPr algn="l" indent="0" marL="0">
              <a:buNone/>
            </a:pPr>
            <a:r>
              <a:rPr lang="en-US" sz="2400" b="1" dirty="0">
                <a:solidFill>
                  <a:schemeClr val="tx2"/>
                </a:solidFill>
                <a:latin typeface="Arial Narrow" pitchFamily="34" charset="0"/>
                <a:ea typeface="Arial Narrow" pitchFamily="34" charset="-122"/>
                <a:cs typeface="Arial Narrow" pitchFamily="34" charset="-120"/>
              </a:rPr>
              <a:t>2A: </a:t>
            </a:r>
            <a:pPr algn="l" indent="0" marL="0">
              <a:buNone/>
            </a:pPr>
            <a:r>
              <a:rPr lang="en-US" sz="2400" dirty="0">
                <a:solidFill>
                  <a:srgbClr val="595959"/>
                </a:solidFill>
                <a:latin typeface="Arial Narrow" pitchFamily="34" charset="0"/>
                <a:ea typeface="Arial Narrow" pitchFamily="34" charset="-122"/>
                <a:cs typeface="Arial Narrow" pitchFamily="34" charset="-120"/>
              </a:rPr>
              <a:t>HOW DO WE EVALUATE OUR SYSTEM?</a:t>
            </a:r>
            <a:endParaRPr lang="en-US" sz="2400" dirty="0"/>
          </a:p>
        </p:txBody>
      </p:sp>
      <p:sp>
        <p:nvSpPr>
          <p:cNvPr id="4" name="Shape 1"/>
          <p:cNvSpPr/>
          <p:nvPr/>
        </p:nvSpPr>
        <p:spPr>
          <a:xfrm>
            <a:off x="457200" y="1005840"/>
            <a:ext cx="2514600" cy="1051560"/>
          </a:xfrm>
          <a:prstGeom prst="roundRect">
            <a:avLst>
              <a:gd name="adj" fmla="val 8696"/>
            </a:avLst>
          </a:prstGeom>
          <a:solidFill>
            <a:srgbClr val="EEF0EC"/>
          </a:solidFill>
          <a:ln w="12700">
            <a:solidFill>
              <a:srgbClr val="6B7A65"/>
            </a:solidFill>
            <a:prstDash val="solid"/>
          </a:ln>
        </p:spPr>
      </p:sp>
      <p:sp>
        <p:nvSpPr>
          <p:cNvPr id="5" name="Text 2"/>
          <p:cNvSpPr txBox="1"/>
          <p:nvPr/>
        </p:nvSpPr>
        <p:spPr>
          <a:xfrm>
            <a:off x="548640" y="1051560"/>
            <a:ext cx="2331720" cy="960120"/>
          </a:xfrm>
          <a:prstGeom prst="rect">
            <a:avLst/>
          </a:prstGeom>
          <a:noFill/>
          <a:ln/>
        </p:spPr>
        <p:txBody>
          <a:bodyPr wrap="square" lIns="0" tIns="0" rIns="0" bIns="0" rtlCol="0" anchor="ctr"/>
          <a:lstStyle/>
          <a:p>
            <a:pPr algn="ctr" indent="0" marL="0">
              <a:buNone/>
            </a:pPr>
            <a:r>
              <a:rPr lang="en-US" sz="1400" b="1" dirty="0">
                <a:solidFill>
                  <a:srgbClr val="404040"/>
                </a:solidFill>
              </a:rPr>
              <a:t>digits.csv</a:t>
            </a:r>
            <a:endParaRPr lang="en-US" sz="1400" dirty="0"/>
          </a:p>
          <a:p>
            <a:pPr algn="ctr" indent="0" marL="0">
              <a:buNone/>
            </a:pPr>
            <a:r>
              <a:rPr lang="en-US" sz="1200" dirty="0">
                <a:solidFill>
                  <a:srgbClr val="404040"/>
                </a:solidFill>
              </a:rPr>
              <a:t>12 449 images</a:t>
            </a:r>
            <a:endParaRPr lang="en-US" sz="1400" dirty="0"/>
          </a:p>
          <a:p>
            <a:pPr algn="ctr" indent="0" marL="0">
              <a:buNone/>
            </a:pPr>
            <a:r>
              <a:rPr lang="en-US" sz="1200" dirty="0">
                <a:solidFill>
                  <a:srgbClr val="404040"/>
                </a:solidFill>
              </a:rPr>
              <a:t>split once 80 / 20</a:t>
            </a:r>
            <a:endParaRPr lang="en-US" sz="1400" dirty="0"/>
          </a:p>
        </p:txBody>
      </p:sp>
      <p:sp>
        <p:nvSpPr>
          <p:cNvPr id="6" name="Shape 3"/>
          <p:cNvSpPr/>
          <p:nvPr/>
        </p:nvSpPr>
        <p:spPr>
          <a:xfrm>
            <a:off x="3035808" y="1417320"/>
            <a:ext cx="256032" cy="274320"/>
          </a:xfrm>
          <a:prstGeom prst="rightArrow">
            <a:avLst/>
          </a:prstGeom>
          <a:solidFill>
            <a:srgbClr val="A5A5A5"/>
          </a:solidFill>
          <a:ln w="12700">
            <a:solidFill>
              <a:srgbClr val="A5A5A5"/>
            </a:solidFill>
            <a:prstDash val="solid"/>
          </a:ln>
        </p:spPr>
      </p:sp>
      <p:sp>
        <p:nvSpPr>
          <p:cNvPr id="7" name="Shape 4"/>
          <p:cNvSpPr/>
          <p:nvPr/>
        </p:nvSpPr>
        <p:spPr>
          <a:xfrm>
            <a:off x="3337560" y="1005840"/>
            <a:ext cx="2514600" cy="1051560"/>
          </a:xfrm>
          <a:prstGeom prst="roundRect">
            <a:avLst>
              <a:gd name="adj" fmla="val 8696"/>
            </a:avLst>
          </a:prstGeom>
          <a:solidFill>
            <a:srgbClr val="EEF0EC"/>
          </a:solidFill>
          <a:ln w="12700">
            <a:solidFill>
              <a:srgbClr val="6B7A65"/>
            </a:solidFill>
            <a:prstDash val="solid"/>
          </a:ln>
        </p:spPr>
      </p:sp>
      <p:sp>
        <p:nvSpPr>
          <p:cNvPr id="8" name="Text 5"/>
          <p:cNvSpPr txBox="1"/>
          <p:nvPr/>
        </p:nvSpPr>
        <p:spPr>
          <a:xfrm>
            <a:off x="3429000" y="1051560"/>
            <a:ext cx="2331720" cy="960120"/>
          </a:xfrm>
          <a:prstGeom prst="rect">
            <a:avLst/>
          </a:prstGeom>
          <a:noFill/>
          <a:ln/>
        </p:spPr>
        <p:txBody>
          <a:bodyPr wrap="square" lIns="0" tIns="0" rIns="0" bIns="0" rtlCol="0" anchor="ctr"/>
          <a:lstStyle/>
          <a:p>
            <a:pPr algn="ctr" indent="0" marL="0">
              <a:buNone/>
            </a:pPr>
            <a:r>
              <a:rPr lang="en-US" sz="1400" b="1" dirty="0">
                <a:solidFill>
                  <a:srgbClr val="404040"/>
                </a:solidFill>
              </a:rPr>
              <a:t>Train  ·  9 959</a:t>
            </a:r>
            <a:endParaRPr lang="en-US" sz="1400" dirty="0"/>
          </a:p>
          <a:p>
            <a:pPr algn="ctr" indent="0" marL="0">
              <a:buNone/>
            </a:pPr>
            <a:r>
              <a:rPr lang="en-US" sz="1200" dirty="0">
                <a:solidFill>
                  <a:srgbClr val="404040"/>
                </a:solidFill>
              </a:rPr>
              <a:t>fits the weights</a:t>
            </a:r>
            <a:endParaRPr lang="en-US" sz="1400" dirty="0"/>
          </a:p>
        </p:txBody>
      </p:sp>
      <p:sp>
        <p:nvSpPr>
          <p:cNvPr id="9" name="Shape 6"/>
          <p:cNvSpPr/>
          <p:nvPr/>
        </p:nvSpPr>
        <p:spPr>
          <a:xfrm>
            <a:off x="5916168" y="1417320"/>
            <a:ext cx="256032" cy="274320"/>
          </a:xfrm>
          <a:prstGeom prst="rightArrow">
            <a:avLst/>
          </a:prstGeom>
          <a:solidFill>
            <a:srgbClr val="A5A5A5"/>
          </a:solidFill>
          <a:ln w="12700">
            <a:solidFill>
              <a:srgbClr val="A5A5A5"/>
            </a:solidFill>
            <a:prstDash val="solid"/>
          </a:ln>
        </p:spPr>
      </p:sp>
      <p:sp>
        <p:nvSpPr>
          <p:cNvPr id="10" name="Shape 7"/>
          <p:cNvSpPr/>
          <p:nvPr/>
        </p:nvSpPr>
        <p:spPr>
          <a:xfrm>
            <a:off x="6217920" y="1005840"/>
            <a:ext cx="2514600" cy="1051560"/>
          </a:xfrm>
          <a:prstGeom prst="roundRect">
            <a:avLst>
              <a:gd name="adj" fmla="val 8696"/>
            </a:avLst>
          </a:prstGeom>
          <a:solidFill>
            <a:srgbClr val="EEF0EC"/>
          </a:solidFill>
          <a:ln w="12700">
            <a:solidFill>
              <a:srgbClr val="6B7A65"/>
            </a:solidFill>
            <a:prstDash val="solid"/>
          </a:ln>
        </p:spPr>
      </p:sp>
      <p:sp>
        <p:nvSpPr>
          <p:cNvPr id="11" name="Text 8"/>
          <p:cNvSpPr txBox="1"/>
          <p:nvPr/>
        </p:nvSpPr>
        <p:spPr>
          <a:xfrm>
            <a:off x="6309360" y="1051560"/>
            <a:ext cx="2331720" cy="960120"/>
          </a:xfrm>
          <a:prstGeom prst="rect">
            <a:avLst/>
          </a:prstGeom>
          <a:noFill/>
          <a:ln/>
        </p:spPr>
        <p:txBody>
          <a:bodyPr wrap="square" lIns="0" tIns="0" rIns="0" bIns="0" rtlCol="0" anchor="ctr"/>
          <a:lstStyle/>
          <a:p>
            <a:pPr algn="ctr" indent="0" marL="0">
              <a:buNone/>
            </a:pPr>
            <a:r>
              <a:rPr lang="en-US" sz="1400" b="1" dirty="0">
                <a:solidFill>
                  <a:srgbClr val="404040"/>
                </a:solidFill>
              </a:rPr>
              <a:t>Validation  ·  2 490</a:t>
            </a:r>
            <a:endParaRPr lang="en-US" sz="1400" dirty="0"/>
          </a:p>
          <a:p>
            <a:pPr algn="ctr" indent="0" marL="0">
              <a:buNone/>
            </a:pPr>
            <a:r>
              <a:rPr lang="en-US" sz="1200" dirty="0">
                <a:solidFill>
                  <a:srgbClr val="404040"/>
                </a:solidFill>
              </a:rPr>
              <a:t>picks hyperparameters</a:t>
            </a:r>
            <a:endParaRPr lang="en-US" sz="1400" dirty="0"/>
          </a:p>
          <a:p>
            <a:pPr algn="ctr" indent="0" marL="0">
              <a:buNone/>
            </a:pPr>
            <a:r>
              <a:rPr lang="en-US" sz="1200" dirty="0">
                <a:solidFill>
                  <a:srgbClr val="404040"/>
                </a:solidFill>
              </a:rPr>
              <a:t>mean of 3 seeds</a:t>
            </a:r>
            <a:endParaRPr lang="en-US" sz="1400" dirty="0"/>
          </a:p>
        </p:txBody>
      </p:sp>
      <p:sp>
        <p:nvSpPr>
          <p:cNvPr id="12" name="Shape 9"/>
          <p:cNvSpPr/>
          <p:nvPr/>
        </p:nvSpPr>
        <p:spPr>
          <a:xfrm>
            <a:off x="8796528" y="1417320"/>
            <a:ext cx="256032" cy="274320"/>
          </a:xfrm>
          <a:prstGeom prst="rightArrow">
            <a:avLst/>
          </a:prstGeom>
          <a:solidFill>
            <a:srgbClr val="A5A5A5"/>
          </a:solidFill>
          <a:ln w="12700">
            <a:solidFill>
              <a:srgbClr val="A5A5A5"/>
            </a:solidFill>
            <a:prstDash val="solid"/>
          </a:ln>
        </p:spPr>
      </p:sp>
      <p:sp>
        <p:nvSpPr>
          <p:cNvPr id="13" name="Shape 10"/>
          <p:cNvSpPr/>
          <p:nvPr/>
        </p:nvSpPr>
        <p:spPr>
          <a:xfrm>
            <a:off x="9098280" y="1005840"/>
            <a:ext cx="2514600" cy="1051560"/>
          </a:xfrm>
          <a:prstGeom prst="roundRect">
            <a:avLst>
              <a:gd name="adj" fmla="val 8696"/>
            </a:avLst>
          </a:prstGeom>
          <a:solidFill>
            <a:srgbClr val="6B7A65"/>
          </a:solidFill>
          <a:ln w="12700">
            <a:solidFill>
              <a:srgbClr val="6B7A65"/>
            </a:solidFill>
            <a:prstDash val="solid"/>
          </a:ln>
        </p:spPr>
      </p:sp>
      <p:sp>
        <p:nvSpPr>
          <p:cNvPr id="14" name="Text 11"/>
          <p:cNvSpPr txBox="1"/>
          <p:nvPr/>
        </p:nvSpPr>
        <p:spPr>
          <a:xfrm>
            <a:off x="9189720" y="1051560"/>
            <a:ext cx="2331720" cy="960120"/>
          </a:xfrm>
          <a:prstGeom prst="rect">
            <a:avLst/>
          </a:prstGeom>
          <a:noFill/>
          <a:ln/>
        </p:spPr>
        <p:txBody>
          <a:bodyPr wrap="square" lIns="0" tIns="0" rIns="0" bIns="0" rtlCol="0" anchor="ctr"/>
          <a:lstStyle/>
          <a:p>
            <a:pPr algn="ctr" indent="0" marL="0">
              <a:buNone/>
            </a:pPr>
            <a:r>
              <a:rPr lang="en-US" sz="1400" b="1" dirty="0">
                <a:solidFill>
                  <a:srgbClr val="FFFFFF"/>
                </a:solidFill>
              </a:rPr>
              <a:t>digits_test.csv  ·  2 497</a:t>
            </a:r>
            <a:endParaRPr lang="en-US" sz="1400" dirty="0"/>
          </a:p>
          <a:p>
            <a:pPr algn="ctr" indent="0" marL="0">
              <a:buNone/>
            </a:pPr>
            <a:r>
              <a:rPr lang="en-US" sz="1200" dirty="0">
                <a:solidFill>
                  <a:srgbClr val="FFFFFF"/>
                </a:solidFill>
              </a:rPr>
              <a:t>"production"</a:t>
            </a:r>
            <a:endParaRPr lang="en-US" sz="1400" dirty="0"/>
          </a:p>
          <a:p>
            <a:pPr algn="ctr" indent="0" marL="0">
              <a:buNone/>
            </a:pPr>
            <a:r>
              <a:rPr lang="en-US" sz="1200" dirty="0">
                <a:solidFill>
                  <a:srgbClr val="FFFFFF"/>
                </a:solidFill>
              </a:rPr>
              <a:t>used once, at the end</a:t>
            </a:r>
            <a:endParaRPr lang="en-US" sz="1400" dirty="0"/>
          </a:p>
        </p:txBody>
      </p:sp>
      <p:pic>
        <p:nvPicPr>
          <p:cNvPr id="15" name="Image 0" descr="digit_samples.png">    </p:cNvPr>
          <p:cNvPicPr>
            <a:picLocks noChangeAspect="1"/>
          </p:cNvPicPr>
          <p:nvPr/>
        </p:nvPicPr>
        <p:blipFill>
          <a:blip r:embed="rId1"/>
          <a:stretch>
            <a:fillRect/>
          </a:stretch>
        </p:blipFill>
        <p:spPr>
          <a:xfrm>
            <a:off x="457200" y="2377440"/>
            <a:ext cx="6949440" cy="3373956"/>
          </a:xfrm>
          <a:prstGeom prst="rect">
            <a:avLst/>
          </a:prstGeom>
        </p:spPr>
      </p:pic>
      <p:sp>
        <p:nvSpPr>
          <p:cNvPr id="16" name="Text 12"/>
          <p:cNvSpPr txBox="1"/>
          <p:nvPr/>
        </p:nvSpPr>
        <p:spPr>
          <a:xfrm>
            <a:off x="7772400" y="2514600"/>
            <a:ext cx="3977640" cy="365760"/>
          </a:xfrm>
          <a:prstGeom prst="rect">
            <a:avLst/>
          </a:prstGeom>
          <a:noFill/>
          <a:ln/>
        </p:spPr>
        <p:txBody>
          <a:bodyPr wrap="square" lIns="0" tIns="0" rIns="0" bIns="0" rtlCol="0" anchor="ctr"/>
          <a:lstStyle/>
          <a:p>
            <a:pPr indent="0" marL="0">
              <a:buNone/>
            </a:pPr>
            <a:r>
              <a:rPr lang="en-US" sz="1800" b="1" dirty="0">
                <a:solidFill>
                  <a:srgbClr val="404040"/>
                </a:solidFill>
              </a:rPr>
              <a:t>Metrics</a:t>
            </a:r>
            <a:endParaRPr lang="en-US" sz="1800" dirty="0"/>
          </a:p>
        </p:txBody>
      </p:sp>
      <p:sp>
        <p:nvSpPr>
          <p:cNvPr id="17" name="Text 13"/>
          <p:cNvSpPr txBox="1"/>
          <p:nvPr/>
        </p:nvSpPr>
        <p:spPr>
          <a:xfrm>
            <a:off x="7772400" y="2971800"/>
            <a:ext cx="3977640" cy="31089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404040"/>
                </a:solidFill>
              </a:rPr>
              <a:t>Accuracy → the client's target</a:t>
            </a:r>
            <a:endParaRPr lang="en-US" sz="1500" dirty="0"/>
          </a:p>
          <a:p>
            <a:pPr marL="342900" indent="-342900">
              <a:spcAft>
                <a:spcPts val="600"/>
              </a:spcAft>
              <a:buSzPct val="100000"/>
              <a:buChar char="•"/>
            </a:pPr>
            <a:r>
              <a:rPr lang="en-US" sz="1500" dirty="0">
                <a:solidFill>
                  <a:srgbClr val="404040"/>
                </a:solidFill>
              </a:rPr>
              <a:t>Per-class recall → catches a digit that is always wrong</a:t>
            </a:r>
            <a:endParaRPr lang="en-US" sz="1500" dirty="0"/>
          </a:p>
          <a:p>
            <a:pPr marL="342900" indent="-342900">
              <a:spcAft>
                <a:spcPts val="600"/>
              </a:spcAft>
              <a:buSzPct val="100000"/>
              <a:buChar char="•"/>
            </a:pPr>
            <a:r>
              <a:rPr lang="en-US" sz="1500" dirty="0">
                <a:solidFill>
                  <a:srgbClr val="404040"/>
                </a:solidFill>
              </a:rPr>
              <a:t>Confusion matrix → which digits get mixed up</a:t>
            </a:r>
            <a:endParaRPr lang="en-US" sz="1500" dirty="0"/>
          </a:p>
          <a:p>
            <a:pPr marL="342900" indent="-342900">
              <a:spcAft>
                <a:spcPts val="600"/>
              </a:spcAft>
              <a:buSzPct val="100000"/>
              <a:buChar char="•"/>
            </a:pPr>
            <a:r>
              <a:rPr lang="en-US" sz="1500" dirty="0">
                <a:solidFill>
                  <a:srgbClr val="404040"/>
                </a:solidFill>
              </a:rPr>
              <a:t>Train / validation MSE per epoch → convergence, overfitting</a:t>
            </a:r>
            <a:endParaRPr lang="en-US" sz="1500" dirty="0"/>
          </a:p>
        </p:txBody>
      </p:sp>
      <p:sp>
        <p:nvSpPr>
          <p:cNvPr id="25" name="Slide Number Placeholder 0"/>
          <p:cNvSpPr>
            <a:spLocks noGrp="1"/>
          </p:cNvSpPr>
          <p:nvPr>
            <p:ph type="sldNum" sz="quarter" idx="4294967295"/>
          </p:nvPr>
        </p:nvSpPr>
        <p:spPr>
          <a:xfrm>
            <a:off x="11658600" y="6217920"/>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7F7F7F"/>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11247120" cy="548640"/>
          </a:xfrm>
          <a:prstGeom prst="rect">
            <a:avLst/>
          </a:prstGeom>
          <a:noFill/>
          <a:ln/>
        </p:spPr>
        <p:txBody>
          <a:bodyPr wrap="square" lIns="0" tIns="0" rIns="0" bIns="0" rtlCol="0" anchor="t"/>
          <a:lstStyle/>
          <a:p>
            <a:pPr algn="l" indent="0" marL="0">
              <a:buNone/>
            </a:pPr>
            <a:r>
              <a:rPr lang="en-US" sz="2400" b="1" dirty="0">
                <a:solidFill>
                  <a:schemeClr val="tx2"/>
                </a:solidFill>
                <a:latin typeface="Arial Narrow" pitchFamily="34" charset="0"/>
                <a:ea typeface="Arial Narrow" pitchFamily="34" charset="-122"/>
                <a:cs typeface="Arial Narrow" pitchFamily="34" charset="-120"/>
              </a:rPr>
              <a:t>2B: </a:t>
            </a:r>
            <a:pPr algn="l" indent="0" marL="0">
              <a:buNone/>
            </a:pPr>
            <a:r>
              <a:rPr lang="en-US" sz="2400" dirty="0">
                <a:solidFill>
                  <a:srgbClr val="595959"/>
                </a:solidFill>
                <a:latin typeface="Arial Narrow" pitchFamily="34" charset="0"/>
                <a:ea typeface="Arial Narrow" pitchFamily="34" charset="-122"/>
                <a:cs typeface="Arial Narrow" pitchFamily="34" charset="-120"/>
              </a:rPr>
              <a:t>WHICH VARIANTS DID WE TRY?</a:t>
            </a:r>
            <a:endParaRPr lang="en-US" sz="2400" dirty="0"/>
          </a:p>
        </p:txBody>
      </p:sp>
      <p:sp>
        <p:nvSpPr>
          <p:cNvPr id="3" name="Text 1"/>
          <p:cNvSpPr txBox="1"/>
          <p:nvPr/>
        </p:nvSpPr>
        <p:spPr>
          <a:xfrm>
            <a:off x="457200" y="868680"/>
            <a:ext cx="11247120" cy="411480"/>
          </a:xfrm>
          <a:prstGeom prst="rect">
            <a:avLst/>
          </a:prstGeom>
          <a:noFill/>
          <a:ln/>
        </p:spPr>
        <p:txBody>
          <a:bodyPr wrap="square" lIns="0" tIns="0" rIns="0" bIns="0" rtlCol="0" anchor="ctr"/>
          <a:lstStyle/>
          <a:p>
            <a:pPr indent="0" marL="0">
              <a:buNone/>
            </a:pPr>
            <a:r>
              <a:rPr lang="en-US" sz="1800" b="1" dirty="0">
                <a:solidFill>
                  <a:srgbClr val="404040"/>
                </a:solidFill>
              </a:rPr>
              <a:t>Learning rate  ·  gradient descent, [784, 64, 10], batch 32, 60 epochs</a:t>
            </a:r>
            <a:endParaRPr lang="en-US" sz="1800" dirty="0"/>
          </a:p>
        </p:txBody>
      </p:sp>
      <p:pic>
        <p:nvPicPr>
          <p:cNvPr id="5" name="Image 0" descr="learning_rate_valid_loss.png">    </p:cNvPr>
          <p:cNvPicPr>
            <a:picLocks noChangeAspect="1"/>
          </p:cNvPicPr>
          <p:nvPr/>
        </p:nvPicPr>
        <p:blipFill>
          <a:blip r:embed="rId1"/>
          <a:stretch>
            <a:fillRect/>
          </a:stretch>
        </p:blipFill>
        <p:spPr>
          <a:xfrm>
            <a:off x="457200" y="1371600"/>
            <a:ext cx="5577840" cy="3458006"/>
          </a:xfrm>
          <a:prstGeom prst="rect">
            <a:avLst/>
          </a:prstGeom>
        </p:spPr>
      </p:pic>
      <p:pic>
        <p:nvPicPr>
          <p:cNvPr id="6" name="Image 1" descr="learning_rate_accuracy.png">    </p:cNvPr>
          <p:cNvPicPr>
            <a:picLocks noChangeAspect="1"/>
          </p:cNvPicPr>
          <p:nvPr/>
        </p:nvPicPr>
        <p:blipFill>
          <a:blip r:embed="rId2"/>
          <a:stretch>
            <a:fillRect/>
          </a:stretch>
        </p:blipFill>
        <p:spPr>
          <a:xfrm>
            <a:off x="6537960" y="1371600"/>
            <a:ext cx="4937760" cy="3431536"/>
          </a:xfrm>
          <a:prstGeom prst="rect">
            <a:avLst/>
          </a:prstGeom>
        </p:spPr>
      </p:pic>
      <p:sp>
        <p:nvSpPr>
          <p:cNvPr id="7" name="Text 2"/>
          <p:cNvSpPr txBox="1"/>
          <p:nvPr/>
        </p:nvSpPr>
        <p:spPr>
          <a:xfrm>
            <a:off x="457200" y="5029200"/>
            <a:ext cx="11247120" cy="1234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404040"/>
                </a:solidFill>
              </a:rPr>
              <a:t>0.01 → too slow, still dropping at epoch 60</a:t>
            </a:r>
            <a:endParaRPr lang="en-US" sz="1500" dirty="0"/>
          </a:p>
          <a:p>
            <a:pPr marL="342900" indent="-342900">
              <a:spcAft>
                <a:spcPts val="600"/>
              </a:spcAft>
              <a:buSzPct val="100000"/>
              <a:buChar char="•"/>
            </a:pPr>
            <a:r>
              <a:rPr lang="en-US" sz="1500" dirty="0">
                <a:solidFill>
                  <a:srgbClr val="404040"/>
                </a:solidFill>
              </a:rPr>
              <a:t>0.5 – 1 → fastest, ≈ 96 %</a:t>
            </a:r>
            <a:endParaRPr lang="en-US" sz="1500" dirty="0"/>
          </a:p>
          <a:p>
            <a:pPr marL="342900" indent="-342900">
              <a:spcAft>
                <a:spcPts val="600"/>
              </a:spcAft>
              <a:buSzPct val="100000"/>
              <a:buChar char="•"/>
            </a:pPr>
            <a:r>
              <a:rPr lang="en-US" sz="1500" dirty="0">
                <a:solidFill>
                  <a:srgbClr val="404040"/>
                </a:solidFill>
              </a:rPr>
              <a:t>3.0 → sigmoids saturate, θ' ≈ 0, loss stuck at 0.50</a:t>
            </a:r>
            <a:endParaRPr lang="en-US" sz="1500" dirty="0"/>
          </a:p>
        </p:txBody>
      </p:sp>
      <p:sp>
        <p:nvSpPr>
          <p:cNvPr id="25" name="Slide Number Placeholder 0"/>
          <p:cNvSpPr>
            <a:spLocks noGrp="1"/>
          </p:cNvSpPr>
          <p:nvPr>
            <p:ph type="sldNum" sz="quarter" idx="4294967295"/>
          </p:nvPr>
        </p:nvSpPr>
        <p:spPr>
          <a:xfrm>
            <a:off x="11658600" y="6217920"/>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7F7F7F"/>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11247120" cy="548640"/>
          </a:xfrm>
          <a:prstGeom prst="rect">
            <a:avLst/>
          </a:prstGeom>
          <a:noFill/>
          <a:ln/>
        </p:spPr>
        <p:txBody>
          <a:bodyPr wrap="square" lIns="0" tIns="0" rIns="0" bIns="0" rtlCol="0" anchor="t"/>
          <a:lstStyle/>
          <a:p>
            <a:pPr algn="l" indent="0" marL="0">
              <a:buNone/>
            </a:pPr>
            <a:r>
              <a:rPr lang="en-US" sz="2400" b="1" dirty="0">
                <a:solidFill>
                  <a:schemeClr val="tx2"/>
                </a:solidFill>
                <a:latin typeface="Arial Narrow" pitchFamily="34" charset="0"/>
                <a:ea typeface="Arial Narrow" pitchFamily="34" charset="-122"/>
                <a:cs typeface="Arial Narrow" pitchFamily="34" charset="-120"/>
              </a:rPr>
              <a:t>2B: </a:t>
            </a:r>
            <a:pPr algn="l" indent="0" marL="0">
              <a:buNone/>
            </a:pPr>
            <a:r>
              <a:rPr lang="en-US" sz="2400" dirty="0">
                <a:solidFill>
                  <a:srgbClr val="595959"/>
                </a:solidFill>
                <a:latin typeface="Arial Narrow" pitchFamily="34" charset="0"/>
                <a:ea typeface="Arial Narrow" pitchFamily="34" charset="-122"/>
                <a:cs typeface="Arial Narrow" pitchFamily="34" charset="-120"/>
              </a:rPr>
              <a:t>WHICH VARIANTS DID WE TRY?</a:t>
            </a:r>
            <a:endParaRPr lang="en-US" sz="2400" dirty="0"/>
          </a:p>
        </p:txBody>
      </p:sp>
      <p:sp>
        <p:nvSpPr>
          <p:cNvPr id="3" name="Text 1"/>
          <p:cNvSpPr txBox="1"/>
          <p:nvPr/>
        </p:nvSpPr>
        <p:spPr>
          <a:xfrm>
            <a:off x="457200" y="868680"/>
            <a:ext cx="11247120" cy="411480"/>
          </a:xfrm>
          <a:prstGeom prst="rect">
            <a:avLst/>
          </a:prstGeom>
          <a:noFill/>
          <a:ln/>
        </p:spPr>
        <p:txBody>
          <a:bodyPr wrap="square" lIns="0" tIns="0" rIns="0" bIns="0" rtlCol="0" anchor="ctr"/>
          <a:lstStyle/>
          <a:p>
            <a:pPr indent="0" marL="0">
              <a:buNone/>
            </a:pPr>
            <a:r>
              <a:rPr lang="en-US" sz="1800" b="1" dirty="0">
                <a:solidFill>
                  <a:srgbClr val="404040"/>
                </a:solidFill>
              </a:rPr>
              <a:t>Architecture  ·  learning rate 0.5, batch 32</a:t>
            </a:r>
            <a:endParaRPr lang="en-US" sz="1800" dirty="0"/>
          </a:p>
        </p:txBody>
      </p:sp>
      <p:pic>
        <p:nvPicPr>
          <p:cNvPr id="5" name="Image 0" descr="architecture_accuracy.png">    </p:cNvPr>
          <p:cNvPicPr>
            <a:picLocks noChangeAspect="1"/>
          </p:cNvPicPr>
          <p:nvPr/>
        </p:nvPicPr>
        <p:blipFill>
          <a:blip r:embed="rId1"/>
          <a:stretch>
            <a:fillRect/>
          </a:stretch>
        </p:blipFill>
        <p:spPr>
          <a:xfrm>
            <a:off x="457200" y="1417320"/>
            <a:ext cx="6766560" cy="3655092"/>
          </a:xfrm>
          <a:prstGeom prst="rect">
            <a:avLst/>
          </a:prstGeom>
        </p:spPr>
      </p:pic>
      <p:sp>
        <p:nvSpPr>
          <p:cNvPr id="6" name="Text 2"/>
          <p:cNvSpPr txBox="1"/>
          <p:nvPr/>
        </p:nvSpPr>
        <p:spPr>
          <a:xfrm>
            <a:off x="7589520" y="1463040"/>
            <a:ext cx="416052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404040"/>
                </a:solidFill>
              </a:rPr>
              <a:t>16 → 128 units: 94.5 % → 96.6 %</a:t>
            </a:r>
            <a:endParaRPr lang="en-US" sz="1500" dirty="0"/>
          </a:p>
          <a:p>
            <a:pPr marL="342900" indent="-342900">
              <a:spcAft>
                <a:spcPts val="600"/>
              </a:spcAft>
              <a:buSzPct val="100000"/>
              <a:buChar char="•"/>
            </a:pPr>
            <a:r>
              <a:rPr lang="en-US" sz="1500" dirty="0">
                <a:solidFill>
                  <a:srgbClr val="404040"/>
                </a:solidFill>
              </a:rPr>
              <a:t>2nd hidden layer: no gain</a:t>
            </a:r>
            <a:endParaRPr lang="en-US" sz="1500" dirty="0"/>
          </a:p>
          <a:p>
            <a:pPr marL="342900" indent="-342900">
              <a:spcAft>
                <a:spcPts val="600"/>
              </a:spcAft>
              <a:buSzPct val="100000"/>
              <a:buChar char="•"/>
            </a:pPr>
            <a:r>
              <a:rPr lang="en-US" sz="1500" dirty="0">
                <a:solidFill>
                  <a:srgbClr val="404040"/>
                </a:solidFill>
              </a:rPr>
              <a:t>256: 1 of 3 seeds collapsed (14 %)</a:t>
            </a:r>
            <a:endParaRPr lang="en-US" sz="1500" dirty="0"/>
          </a:p>
          <a:p>
            <a:pPr marL="342900" indent="-342900">
              <a:spcAft>
                <a:spcPts val="600"/>
              </a:spcAft>
              <a:buSzPct val="100000"/>
              <a:buChar char="•"/>
            </a:pPr>
            <a:r>
              <a:rPr lang="en-US" sz="1500" dirty="0">
                <a:solidFill>
                  <a:srgbClr val="404040"/>
                </a:solidFill>
              </a:rPr>
              <a:t>Cost grows with the number of weights</a:t>
            </a:r>
            <a:endParaRPr lang="en-US" sz="1500" dirty="0"/>
          </a:p>
        </p:txBody>
      </p:sp>
      <p:pic>
        <p:nvPicPr>
          <p:cNvPr id="7" name="Image 1" descr="architecture_time.png">    </p:cNvPr>
          <p:cNvPicPr>
            <a:picLocks noChangeAspect="1"/>
          </p:cNvPicPr>
          <p:nvPr/>
        </p:nvPicPr>
        <p:blipFill>
          <a:blip r:embed="rId2"/>
          <a:stretch>
            <a:fillRect/>
          </a:stretch>
        </p:blipFill>
        <p:spPr>
          <a:xfrm>
            <a:off x="7589520" y="3611880"/>
            <a:ext cx="4160520" cy="1928046"/>
          </a:xfrm>
          <a:prstGeom prst="rect">
            <a:avLst/>
          </a:prstGeom>
        </p:spPr>
      </p:pic>
      <p:sp>
        <p:nvSpPr>
          <p:cNvPr id="25" name="Slide Number Placeholder 0"/>
          <p:cNvSpPr>
            <a:spLocks noGrp="1"/>
          </p:cNvSpPr>
          <p:nvPr>
            <p:ph type="sldNum" sz="quarter" idx="4294967295"/>
          </p:nvPr>
        </p:nvSpPr>
        <p:spPr>
          <a:xfrm>
            <a:off x="11658600" y="6217920"/>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7F7F7F"/>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11247120" cy="548640"/>
          </a:xfrm>
          <a:prstGeom prst="rect">
            <a:avLst/>
          </a:prstGeom>
          <a:noFill/>
          <a:ln/>
        </p:spPr>
        <p:txBody>
          <a:bodyPr wrap="square" lIns="0" tIns="0" rIns="0" bIns="0" rtlCol="0" anchor="t"/>
          <a:lstStyle/>
          <a:p>
            <a:pPr algn="l" indent="0" marL="0">
              <a:buNone/>
            </a:pPr>
            <a:r>
              <a:rPr lang="en-US" sz="2400" b="1" dirty="0">
                <a:solidFill>
                  <a:schemeClr val="tx2"/>
                </a:solidFill>
                <a:latin typeface="Arial Narrow" pitchFamily="34" charset="0"/>
                <a:ea typeface="Arial Narrow" pitchFamily="34" charset="-122"/>
                <a:cs typeface="Arial Narrow" pitchFamily="34" charset="-120"/>
              </a:rPr>
              <a:t>2B: </a:t>
            </a:r>
            <a:pPr algn="l" indent="0" marL="0">
              <a:buNone/>
            </a:pPr>
            <a:r>
              <a:rPr lang="en-US" sz="2400" dirty="0">
                <a:solidFill>
                  <a:srgbClr val="595959"/>
                </a:solidFill>
                <a:latin typeface="Arial Narrow" pitchFamily="34" charset="0"/>
                <a:ea typeface="Arial Narrow" pitchFamily="34" charset="-122"/>
                <a:cs typeface="Arial Narrow" pitchFamily="34" charset="-120"/>
              </a:rPr>
              <a:t>WHICH VARIANTS DID WE TRY?</a:t>
            </a:r>
            <a:endParaRPr lang="en-US" sz="2400" dirty="0"/>
          </a:p>
        </p:txBody>
      </p:sp>
      <p:sp>
        <p:nvSpPr>
          <p:cNvPr id="3" name="Text 1"/>
          <p:cNvSpPr txBox="1"/>
          <p:nvPr/>
        </p:nvSpPr>
        <p:spPr>
          <a:xfrm>
            <a:off x="457200" y="868680"/>
            <a:ext cx="11247120" cy="411480"/>
          </a:xfrm>
          <a:prstGeom prst="rect">
            <a:avLst/>
          </a:prstGeom>
          <a:noFill/>
          <a:ln/>
        </p:spPr>
        <p:txBody>
          <a:bodyPr wrap="square" lIns="0" tIns="0" rIns="0" bIns="0" rtlCol="0" anchor="ctr"/>
          <a:lstStyle/>
          <a:p>
            <a:pPr indent="0" marL="0">
              <a:buNone/>
            </a:pPr>
            <a:r>
              <a:rPr lang="en-US" sz="1800" b="1" dirty="0">
                <a:solidFill>
                  <a:srgbClr val="404040"/>
                </a:solidFill>
              </a:rPr>
              <a:t>Optimization method  ·  [784, 64, 10], batch 32</a:t>
            </a:r>
            <a:endParaRPr lang="en-US" sz="1800" dirty="0"/>
          </a:p>
        </p:txBody>
      </p:sp>
      <p:pic>
        <p:nvPicPr>
          <p:cNvPr id="5" name="Image 0" descr="optimizer_valid_loss.png">    </p:cNvPr>
          <p:cNvPicPr>
            <a:picLocks noChangeAspect="1"/>
          </p:cNvPicPr>
          <p:nvPr/>
        </p:nvPicPr>
        <p:blipFill>
          <a:blip r:embed="rId1"/>
          <a:stretch>
            <a:fillRect/>
          </a:stretch>
        </p:blipFill>
        <p:spPr>
          <a:xfrm>
            <a:off x="457200" y="1371600"/>
            <a:ext cx="5577840" cy="3458006"/>
          </a:xfrm>
          <a:prstGeom prst="rect">
            <a:avLst/>
          </a:prstGeom>
        </p:spPr>
      </p:pic>
      <p:pic>
        <p:nvPicPr>
          <p:cNvPr id="6" name="Image 1" descr="optimizer_accuracy.png">    </p:cNvPr>
          <p:cNvPicPr>
            <a:picLocks noChangeAspect="1"/>
          </p:cNvPicPr>
          <p:nvPr/>
        </p:nvPicPr>
        <p:blipFill>
          <a:blip r:embed="rId2"/>
          <a:stretch>
            <a:fillRect/>
          </a:stretch>
        </p:blipFill>
        <p:spPr>
          <a:xfrm>
            <a:off x="6675120" y="1371600"/>
            <a:ext cx="4572000" cy="3570200"/>
          </a:xfrm>
          <a:prstGeom prst="rect">
            <a:avLst/>
          </a:prstGeom>
        </p:spPr>
      </p:pic>
      <p:sp>
        <p:nvSpPr>
          <p:cNvPr id="7" name="Text 2"/>
          <p:cNvSpPr txBox="1"/>
          <p:nvPr/>
        </p:nvSpPr>
        <p:spPr>
          <a:xfrm>
            <a:off x="457200" y="5029200"/>
            <a:ext cx="11247120" cy="1234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404040"/>
                </a:solidFill>
              </a:rPr>
              <a:t>Own learning rate each: GD 0.5, Momentum 0.05, Adam 0.001</a:t>
            </a:r>
            <a:endParaRPr lang="en-US" sz="1500" dirty="0"/>
          </a:p>
          <a:p>
            <a:pPr marL="342900" indent="-342900">
              <a:spcAft>
                <a:spcPts val="600"/>
              </a:spcAft>
              <a:buSzPct val="100000"/>
              <a:buChar char="•"/>
            </a:pPr>
            <a:r>
              <a:rPr lang="en-US" sz="1500" dirty="0">
                <a:solidFill>
                  <a:srgbClr val="404040"/>
                </a:solidFill>
              </a:rPr>
              <a:t>GD ≈ Adam → 96.1 %</a:t>
            </a:r>
            <a:endParaRPr lang="en-US" sz="1500" dirty="0"/>
          </a:p>
          <a:p>
            <a:pPr marL="342900" indent="-342900">
              <a:spcAft>
                <a:spcPts val="600"/>
              </a:spcAft>
              <a:buSzPct val="100000"/>
              <a:buChar char="•"/>
            </a:pPr>
            <a:r>
              <a:rPr lang="en-US" sz="1500" dirty="0">
                <a:solidFill>
                  <a:srgbClr val="404040"/>
                </a:solidFill>
              </a:rPr>
              <a:t>Momentum: plateaus, 1 seed stuck at 74 %</a:t>
            </a:r>
            <a:endParaRPr lang="en-US" sz="1500" dirty="0"/>
          </a:p>
        </p:txBody>
      </p:sp>
      <p:sp>
        <p:nvSpPr>
          <p:cNvPr id="25" name="Slide Number Placeholder 0"/>
          <p:cNvSpPr>
            <a:spLocks noGrp="1"/>
          </p:cNvSpPr>
          <p:nvPr>
            <p:ph type="sldNum" sz="quarter" idx="4294967295"/>
          </p:nvPr>
        </p:nvSpPr>
        <p:spPr>
          <a:xfrm>
            <a:off x="11658600" y="6217920"/>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7F7F7F"/>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11247120" cy="548640"/>
          </a:xfrm>
          <a:prstGeom prst="rect">
            <a:avLst/>
          </a:prstGeom>
          <a:noFill/>
          <a:ln/>
        </p:spPr>
        <p:txBody>
          <a:bodyPr wrap="square" lIns="0" tIns="0" rIns="0" bIns="0" rtlCol="0" anchor="t"/>
          <a:lstStyle/>
          <a:p>
            <a:pPr algn="l" indent="0" marL="0">
              <a:buNone/>
            </a:pPr>
            <a:r>
              <a:rPr lang="en-US" sz="2400" b="1" dirty="0">
                <a:solidFill>
                  <a:schemeClr val="tx2"/>
                </a:solidFill>
                <a:latin typeface="Arial Narrow" pitchFamily="34" charset="0"/>
                <a:ea typeface="Arial Narrow" pitchFamily="34" charset="-122"/>
                <a:cs typeface="Arial Narrow" pitchFamily="34" charset="-120"/>
              </a:rPr>
              <a:t>2B: </a:t>
            </a:r>
            <a:pPr algn="l" indent="0" marL="0">
              <a:buNone/>
            </a:pPr>
            <a:r>
              <a:rPr lang="en-US" sz="2400" dirty="0">
                <a:solidFill>
                  <a:srgbClr val="595959"/>
                </a:solidFill>
                <a:latin typeface="Arial Narrow" pitchFamily="34" charset="0"/>
                <a:ea typeface="Arial Narrow" pitchFamily="34" charset="-122"/>
                <a:cs typeface="Arial Narrow" pitchFamily="34" charset="-120"/>
              </a:rPr>
              <a:t>WHICH VARIANTS DID WE TRY?</a:t>
            </a:r>
            <a:endParaRPr lang="en-US" sz="2400" dirty="0"/>
          </a:p>
        </p:txBody>
      </p:sp>
      <p:sp>
        <p:nvSpPr>
          <p:cNvPr id="3" name="Text 1"/>
          <p:cNvSpPr txBox="1"/>
          <p:nvPr/>
        </p:nvSpPr>
        <p:spPr>
          <a:xfrm>
            <a:off x="457200" y="868680"/>
            <a:ext cx="11247120" cy="411480"/>
          </a:xfrm>
          <a:prstGeom prst="rect">
            <a:avLst/>
          </a:prstGeom>
          <a:noFill/>
          <a:ln/>
        </p:spPr>
        <p:txBody>
          <a:bodyPr wrap="square" lIns="0" tIns="0" rIns="0" bIns="0" rtlCol="0" anchor="ctr"/>
          <a:lstStyle/>
          <a:p>
            <a:pPr indent="0" marL="0">
              <a:buNone/>
            </a:pPr>
            <a:r>
              <a:rPr lang="en-US" sz="1800" b="1" dirty="0">
                <a:solidFill>
                  <a:srgbClr val="404040"/>
                </a:solidFill>
              </a:rPr>
              <a:t>Batch size  ·  online → mini-batch → large batch  (lr 0.5, [784, 64, 10])</a:t>
            </a:r>
            <a:endParaRPr lang="en-US" sz="1800" dirty="0"/>
          </a:p>
        </p:txBody>
      </p:sp>
      <p:pic>
        <p:nvPicPr>
          <p:cNvPr id="5" name="Image 0" descr="batch_size_accuracy.png">    </p:cNvPr>
          <p:cNvPicPr>
            <a:picLocks noChangeAspect="1"/>
          </p:cNvPicPr>
          <p:nvPr/>
        </p:nvPicPr>
        <p:blipFill>
          <a:blip r:embed="rId1"/>
          <a:stretch>
            <a:fillRect/>
          </a:stretch>
        </p:blipFill>
        <p:spPr>
          <a:xfrm>
            <a:off x="457200" y="1417320"/>
            <a:ext cx="5760720" cy="4003458"/>
          </a:xfrm>
          <a:prstGeom prst="rect">
            <a:avLst/>
          </a:prstGeom>
        </p:spPr>
      </p:pic>
      <p:sp>
        <p:nvSpPr>
          <p:cNvPr id="6" name="Text 2"/>
          <p:cNvSpPr txBox="1"/>
          <p:nvPr/>
        </p:nvSpPr>
        <p:spPr>
          <a:xfrm>
            <a:off x="6400800" y="4617720"/>
            <a:ext cx="53492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04040"/>
                </a:solidFill>
              </a:rPr>
              <a:t>Online (1): slowest, noisiest</a:t>
            </a:r>
            <a:endParaRPr lang="en-US" sz="1400" dirty="0"/>
          </a:p>
          <a:p>
            <a:pPr marL="342900" indent="-342900">
              <a:spcAft>
                <a:spcPts val="600"/>
              </a:spcAft>
              <a:buSzPct val="100000"/>
              <a:buChar char="•"/>
            </a:pPr>
            <a:r>
              <a:rPr lang="en-US" sz="1400" dirty="0">
                <a:solidFill>
                  <a:srgbClr val="404040"/>
                </a:solidFill>
              </a:rPr>
              <a:t>Batch 8: best accuracy, 96.5 % → final model</a:t>
            </a:r>
            <a:endParaRPr lang="en-US" sz="1400" dirty="0"/>
          </a:p>
          <a:p>
            <a:pPr marL="342900" indent="-342900">
              <a:spcAft>
                <a:spcPts val="600"/>
              </a:spcAft>
              <a:buSzPct val="100000"/>
              <a:buChar char="•"/>
            </a:pPr>
            <a:r>
              <a:rPr lang="en-US" sz="1400" dirty="0">
                <a:solidFill>
                  <a:srgbClr val="404040"/>
                </a:solidFill>
              </a:rPr>
              <a:t>Batch 32: 96.1 %, 2× faster per epoch</a:t>
            </a:r>
            <a:endParaRPr lang="en-US" sz="1400" dirty="0"/>
          </a:p>
          <a:p>
            <a:pPr marL="342900" indent="-342900">
              <a:spcAft>
                <a:spcPts val="600"/>
              </a:spcAft>
              <a:buSzPct val="100000"/>
              <a:buChar char="•"/>
            </a:pPr>
            <a:r>
              <a:rPr lang="en-US" sz="1400" dirty="0">
                <a:solidFill>
                  <a:srgbClr val="404040"/>
                </a:solidFill>
              </a:rPr>
              <a:t>Batch 512: only 20 updates/epoch → not converged</a:t>
            </a:r>
            <a:endParaRPr lang="en-US" sz="1400" dirty="0"/>
          </a:p>
        </p:txBody>
      </p:sp>
      <p:pic>
        <p:nvPicPr>
          <p:cNvPr id="7" name="Image 1" descr="batch_size_time.png">    </p:cNvPr>
          <p:cNvPicPr>
            <a:picLocks noChangeAspect="1"/>
          </p:cNvPicPr>
          <p:nvPr/>
        </p:nvPicPr>
        <p:blipFill>
          <a:blip r:embed="rId2"/>
          <a:stretch>
            <a:fillRect/>
          </a:stretch>
        </p:blipFill>
        <p:spPr>
          <a:xfrm>
            <a:off x="6766560" y="1417320"/>
            <a:ext cx="4572000" cy="2795075"/>
          </a:xfrm>
          <a:prstGeom prst="rect">
            <a:avLst/>
          </a:prstGeom>
        </p:spPr>
      </p:pic>
      <p:sp>
        <p:nvSpPr>
          <p:cNvPr id="25" name="Slide Number Placeholder 0"/>
          <p:cNvSpPr>
            <a:spLocks noGrp="1"/>
          </p:cNvSpPr>
          <p:nvPr>
            <p:ph type="sldNum" sz="quarter" idx="4294967295"/>
          </p:nvPr>
        </p:nvSpPr>
        <p:spPr>
          <a:xfrm>
            <a:off x="11658600" y="6217920"/>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7F7F7F"/>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11247120" cy="548640"/>
          </a:xfrm>
          <a:prstGeom prst="rect">
            <a:avLst/>
          </a:prstGeom>
          <a:noFill/>
          <a:ln/>
        </p:spPr>
        <p:txBody>
          <a:bodyPr wrap="square" lIns="0" tIns="0" rIns="0" bIns="0" rtlCol="0" anchor="t"/>
          <a:lstStyle/>
          <a:p>
            <a:pPr algn="l" indent="0" marL="0">
              <a:buNone/>
            </a:pPr>
            <a:r>
              <a:rPr lang="en-US" sz="2400" b="1" dirty="0">
                <a:solidFill>
                  <a:schemeClr val="tx2"/>
                </a:solidFill>
                <a:latin typeface="Arial Narrow" pitchFamily="34" charset="0"/>
                <a:ea typeface="Arial Narrow" pitchFamily="34" charset="-122"/>
                <a:cs typeface="Arial Narrow" pitchFamily="34" charset="-120"/>
              </a:rPr>
              <a:t>2: </a:t>
            </a:r>
            <a:pPr algn="l" indent="0" marL="0">
              <a:buNone/>
            </a:pPr>
            <a:r>
              <a:rPr lang="en-US" sz="2400" dirty="0">
                <a:solidFill>
                  <a:srgbClr val="595959"/>
                </a:solidFill>
                <a:latin typeface="Arial Narrow" pitchFamily="34" charset="0"/>
                <a:ea typeface="Arial Narrow" pitchFamily="34" charset="-122"/>
                <a:cs typeface="Arial Narrow" pitchFamily="34" charset="-120"/>
              </a:rPr>
              <a:t>FINAL MODEL IN "PRODUCTION"</a:t>
            </a:r>
            <a:endParaRPr lang="en-US" sz="2400" dirty="0"/>
          </a:p>
        </p:txBody>
      </p:sp>
      <p:sp>
        <p:nvSpPr>
          <p:cNvPr id="3" name="Text 1"/>
          <p:cNvSpPr txBox="1"/>
          <p:nvPr/>
        </p:nvSpPr>
        <p:spPr>
          <a:xfrm>
            <a:off x="457200" y="868680"/>
            <a:ext cx="11247120" cy="411480"/>
          </a:xfrm>
          <a:prstGeom prst="rect">
            <a:avLst/>
          </a:prstGeom>
          <a:noFill/>
          <a:ln/>
        </p:spPr>
        <p:txBody>
          <a:bodyPr wrap="square" lIns="0" tIns="0" rIns="0" bIns="0" rtlCol="0" anchor="ctr"/>
          <a:lstStyle/>
          <a:p>
            <a:pPr indent="0" marL="0">
              <a:buNone/>
            </a:pPr>
            <a:r>
              <a:rPr lang="en-US" sz="1800" b="1" dirty="0">
                <a:solidFill>
                  <a:srgbClr val="404040"/>
                </a:solidFill>
              </a:rPr>
              <a:t>[784, 128, 10]  ·  sigmoid, β = 1  ·  gradient descent  ·  lr 1.0  ·  batch 8  ·  50 epochs</a:t>
            </a:r>
            <a:endParaRPr lang="en-US" sz="1800" dirty="0"/>
          </a:p>
        </p:txBody>
      </p:sp>
      <p:sp>
        <p:nvSpPr>
          <p:cNvPr id="5" name="Text 2"/>
          <p:cNvSpPr txBox="1"/>
          <p:nvPr/>
        </p:nvSpPr>
        <p:spPr>
          <a:xfrm>
            <a:off x="457200" y="1463040"/>
            <a:ext cx="2286000" cy="685800"/>
          </a:xfrm>
          <a:prstGeom prst="rect">
            <a:avLst/>
          </a:prstGeom>
          <a:noFill/>
          <a:ln/>
        </p:spPr>
        <p:txBody>
          <a:bodyPr wrap="square" lIns="0" tIns="0" rIns="0" bIns="0" rtlCol="0" anchor="ctr"/>
          <a:lstStyle/>
          <a:p>
            <a:pPr indent="0" marL="0">
              <a:buNone/>
            </a:pPr>
            <a:r>
              <a:rPr lang="en-US" sz="4400" b="1" dirty="0">
                <a:solidFill>
                  <a:srgbClr val="6B7A65"/>
                </a:solidFill>
                <a:latin typeface="Arial Narrow" pitchFamily="34" charset="0"/>
                <a:ea typeface="Arial Narrow" pitchFamily="34" charset="-122"/>
                <a:cs typeface="Arial Narrow" pitchFamily="34" charset="-120"/>
              </a:rPr>
              <a:t>96.9%</a:t>
            </a:r>
            <a:endParaRPr lang="en-US" sz="4400" dirty="0"/>
          </a:p>
        </p:txBody>
      </p:sp>
      <p:sp>
        <p:nvSpPr>
          <p:cNvPr id="6" name="Text 3"/>
          <p:cNvSpPr txBox="1"/>
          <p:nvPr/>
        </p:nvSpPr>
        <p:spPr>
          <a:xfrm>
            <a:off x="457200" y="2121408"/>
            <a:ext cx="2377440" cy="320040"/>
          </a:xfrm>
          <a:prstGeom prst="rect">
            <a:avLst/>
          </a:prstGeom>
          <a:noFill/>
          <a:ln/>
        </p:spPr>
        <p:txBody>
          <a:bodyPr wrap="square" lIns="0" tIns="0" rIns="0" bIns="0" rtlCol="0" anchor="ctr"/>
          <a:lstStyle/>
          <a:p>
            <a:pPr indent="0" marL="0">
              <a:buNone/>
            </a:pPr>
            <a:r>
              <a:rPr lang="en-US" sz="1200" dirty="0">
                <a:solidFill>
                  <a:srgbClr val="595959"/>
                </a:solidFill>
              </a:rPr>
              <a:t>validation · ± 0.2 (3 seeds)</a:t>
            </a:r>
            <a:endParaRPr lang="en-US" sz="1200" dirty="0"/>
          </a:p>
        </p:txBody>
      </p:sp>
      <p:sp>
        <p:nvSpPr>
          <p:cNvPr id="7" name="Text 4"/>
          <p:cNvSpPr txBox="1"/>
          <p:nvPr/>
        </p:nvSpPr>
        <p:spPr>
          <a:xfrm>
            <a:off x="457200" y="2651760"/>
            <a:ext cx="2286000" cy="685800"/>
          </a:xfrm>
          <a:prstGeom prst="rect">
            <a:avLst/>
          </a:prstGeom>
          <a:noFill/>
          <a:ln/>
        </p:spPr>
        <p:txBody>
          <a:bodyPr wrap="square" lIns="0" tIns="0" rIns="0" bIns="0" rtlCol="0" anchor="ctr"/>
          <a:lstStyle/>
          <a:p>
            <a:pPr indent="0" marL="0">
              <a:buNone/>
            </a:pPr>
            <a:r>
              <a:rPr lang="en-US" sz="4400" b="1" dirty="0">
                <a:solidFill>
                  <a:srgbClr val="EB6834"/>
                </a:solidFill>
                <a:latin typeface="Arial Narrow" pitchFamily="34" charset="0"/>
                <a:ea typeface="Arial Narrow" pitchFamily="34" charset="-122"/>
                <a:cs typeface="Arial Narrow" pitchFamily="34" charset="-120"/>
              </a:rPr>
              <a:t>86.4%</a:t>
            </a:r>
            <a:endParaRPr lang="en-US" sz="4400" dirty="0"/>
          </a:p>
        </p:txBody>
      </p:sp>
      <p:sp>
        <p:nvSpPr>
          <p:cNvPr id="8" name="Text 5"/>
          <p:cNvSpPr txBox="1"/>
          <p:nvPr/>
        </p:nvSpPr>
        <p:spPr>
          <a:xfrm>
            <a:off x="457200" y="3310128"/>
            <a:ext cx="2377440" cy="320040"/>
          </a:xfrm>
          <a:prstGeom prst="rect">
            <a:avLst/>
          </a:prstGeom>
          <a:noFill/>
          <a:ln/>
        </p:spPr>
        <p:txBody>
          <a:bodyPr wrap="square" lIns="0" tIns="0" rIns="0" bIns="0" rtlCol="0" anchor="ctr"/>
          <a:lstStyle/>
          <a:p>
            <a:pPr indent="0" marL="0">
              <a:buNone/>
            </a:pPr>
            <a:r>
              <a:rPr lang="en-US" sz="1200" dirty="0">
                <a:solidFill>
                  <a:srgbClr val="595959"/>
                </a:solidFill>
              </a:rPr>
              <a:t>test · ± 0.2 (3 seeds)</a:t>
            </a:r>
            <a:endParaRPr lang="en-US" sz="1200" dirty="0"/>
          </a:p>
        </p:txBody>
      </p:sp>
      <p:sp>
        <p:nvSpPr>
          <p:cNvPr id="9" name="Text 6"/>
          <p:cNvSpPr txBox="1"/>
          <p:nvPr/>
        </p:nvSpPr>
        <p:spPr>
          <a:xfrm>
            <a:off x="457200" y="3840480"/>
            <a:ext cx="2286000" cy="685800"/>
          </a:xfrm>
          <a:prstGeom prst="rect">
            <a:avLst/>
          </a:prstGeom>
          <a:noFill/>
          <a:ln/>
        </p:spPr>
        <p:txBody>
          <a:bodyPr wrap="square" lIns="0" tIns="0" rIns="0" bIns="0" rtlCol="0" anchor="ctr"/>
          <a:lstStyle/>
          <a:p>
            <a:pPr indent="0" marL="0">
              <a:buNone/>
            </a:pPr>
            <a:r>
              <a:rPr lang="en-US" sz="4400" b="1" dirty="0">
                <a:solidFill>
                  <a:srgbClr val="EB6834"/>
                </a:solidFill>
                <a:latin typeface="Arial Narrow" pitchFamily="34" charset="0"/>
                <a:ea typeface="Arial Narrow" pitchFamily="34" charset="-122"/>
                <a:cs typeface="Arial Narrow" pitchFamily="34" charset="-120"/>
              </a:rPr>
              <a:t>0%</a:t>
            </a:r>
            <a:endParaRPr lang="en-US" sz="4400" dirty="0"/>
          </a:p>
        </p:txBody>
      </p:sp>
      <p:sp>
        <p:nvSpPr>
          <p:cNvPr id="10" name="Text 7"/>
          <p:cNvSpPr txBox="1"/>
          <p:nvPr/>
        </p:nvSpPr>
        <p:spPr>
          <a:xfrm>
            <a:off x="457200" y="4498848"/>
            <a:ext cx="2377440" cy="320040"/>
          </a:xfrm>
          <a:prstGeom prst="rect">
            <a:avLst/>
          </a:prstGeom>
          <a:noFill/>
          <a:ln/>
        </p:spPr>
        <p:txBody>
          <a:bodyPr wrap="square" lIns="0" tIns="0" rIns="0" bIns="0" rtlCol="0" anchor="ctr"/>
          <a:lstStyle/>
          <a:p>
            <a:pPr indent="0" marL="0">
              <a:buNone/>
            </a:pPr>
            <a:r>
              <a:rPr lang="en-US" sz="1200" dirty="0">
                <a:solidFill>
                  <a:srgbClr val="595959"/>
                </a:solidFill>
              </a:rPr>
              <a:t>recall on digit 8</a:t>
            </a:r>
            <a:endParaRPr lang="en-US" sz="1200" dirty="0"/>
          </a:p>
        </p:txBody>
      </p:sp>
      <p:pic>
        <p:nvPicPr>
          <p:cNvPr id="11" name="Image 0" descr="best_test_confusion.png">    </p:cNvPr>
          <p:cNvPicPr>
            <a:picLocks noChangeAspect="1"/>
          </p:cNvPicPr>
          <p:nvPr/>
        </p:nvPicPr>
        <p:blipFill>
          <a:blip r:embed="rId1"/>
          <a:stretch>
            <a:fillRect/>
          </a:stretch>
        </p:blipFill>
        <p:spPr>
          <a:xfrm>
            <a:off x="2834640" y="1371600"/>
            <a:ext cx="4206240" cy="3791590"/>
          </a:xfrm>
          <a:prstGeom prst="rect">
            <a:avLst/>
          </a:prstGeom>
        </p:spPr>
      </p:pic>
      <p:sp>
        <p:nvSpPr>
          <p:cNvPr id="12" name="Text 8"/>
          <p:cNvSpPr txBox="1"/>
          <p:nvPr/>
        </p:nvSpPr>
        <p:spPr>
          <a:xfrm>
            <a:off x="7315200" y="1463040"/>
            <a:ext cx="443484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404040"/>
                </a:solidFill>
              </a:rPr>
              <a:t>Best of each study combined</a:t>
            </a:r>
            <a:endParaRPr lang="en-US" sz="1500" dirty="0"/>
          </a:p>
          <a:p>
            <a:pPr marL="342900" indent="-342900">
              <a:spcAft>
                <a:spcPts val="600"/>
              </a:spcAft>
              <a:buSzPct val="100000"/>
              <a:buChar char="•"/>
            </a:pPr>
            <a:r>
              <a:rPr lang="en-US" sz="1500" dirty="0">
                <a:solidFill>
                  <a:srgbClr val="404040"/>
                </a:solidFill>
              </a:rPr>
              <a:t>No 8s in training → never predicted</a:t>
            </a:r>
            <a:endParaRPr lang="en-US" sz="1500" dirty="0"/>
          </a:p>
          <a:p>
            <a:pPr marL="342900" indent="-342900">
              <a:spcAft>
                <a:spcPts val="600"/>
              </a:spcAft>
              <a:buSzPct val="100000"/>
              <a:buChar char="•"/>
            </a:pPr>
            <a:r>
              <a:rPr lang="en-US" sz="1500" dirty="0">
                <a:solidFill>
                  <a:srgbClr val="404040"/>
                </a:solidFill>
              </a:rPr>
              <a:t>Best reachable: 90.3 %</a:t>
            </a:r>
            <a:endParaRPr lang="en-US" sz="1500" dirty="0"/>
          </a:p>
          <a:p>
            <a:pPr marL="342900" indent="-342900">
              <a:spcAft>
                <a:spcPts val="600"/>
              </a:spcAft>
              <a:buSzPct val="100000"/>
              <a:buChar char="•"/>
            </a:pPr>
            <a:r>
              <a:rPr lang="en-US" sz="1500" dirty="0">
                <a:solidFill>
                  <a:srgbClr val="404040"/>
                </a:solidFill>
              </a:rPr>
              <a:t>Test without 8s: 95.8 %</a:t>
            </a:r>
            <a:endParaRPr lang="en-US" sz="1500" dirty="0"/>
          </a:p>
        </p:txBody>
      </p:sp>
      <p:pic>
        <p:nvPicPr>
          <p:cNvPr id="13" name="Image 1" descr="best_recall.png">    </p:cNvPr>
          <p:cNvPicPr>
            <a:picLocks noChangeAspect="1"/>
          </p:cNvPicPr>
          <p:nvPr/>
        </p:nvPicPr>
        <p:blipFill>
          <a:blip r:embed="rId2"/>
          <a:stretch>
            <a:fillRect/>
          </a:stretch>
        </p:blipFill>
        <p:spPr>
          <a:xfrm>
            <a:off x="7315200" y="3429000"/>
            <a:ext cx="4434840" cy="2399019"/>
          </a:xfrm>
          <a:prstGeom prst="rect">
            <a:avLst/>
          </a:prstGeom>
        </p:spPr>
      </p:pic>
      <p:sp>
        <p:nvSpPr>
          <p:cNvPr id="25" name="Slide Number Placeholder 0"/>
          <p:cNvSpPr>
            <a:spLocks noGrp="1"/>
          </p:cNvSpPr>
          <p:nvPr>
            <p:ph type="sldNum" sz="quarter" idx="4294967295"/>
          </p:nvPr>
        </p:nvSpPr>
        <p:spPr>
          <a:xfrm>
            <a:off x="11658600" y="6217920"/>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7F7F7F"/>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11247120" cy="548640"/>
          </a:xfrm>
          <a:prstGeom prst="rect">
            <a:avLst/>
          </a:prstGeom>
          <a:noFill/>
          <a:ln/>
        </p:spPr>
        <p:txBody>
          <a:bodyPr wrap="square" lIns="0" tIns="0" rIns="0" bIns="0" rtlCol="0" anchor="t"/>
          <a:lstStyle/>
          <a:p>
            <a:pPr algn="l" indent="0" marL="0">
              <a:buNone/>
            </a:pPr>
            <a:r>
              <a:rPr lang="en-US" sz="2400" b="1" dirty="0">
                <a:solidFill>
                  <a:schemeClr val="tx2"/>
                </a:solidFill>
                <a:latin typeface="Arial Narrow" pitchFamily="34" charset="0"/>
                <a:ea typeface="Arial Narrow" pitchFamily="34" charset="-122"/>
                <a:cs typeface="Arial Narrow" pitchFamily="34" charset="-120"/>
              </a:rPr>
              <a:t>2: </a:t>
            </a:r>
            <a:pPr algn="l" indent="0" marL="0">
              <a:buNone/>
            </a:pPr>
            <a:r>
              <a:rPr lang="en-US" sz="2400" dirty="0">
                <a:solidFill>
                  <a:srgbClr val="595959"/>
                </a:solidFill>
                <a:latin typeface="Arial Narrow" pitchFamily="34" charset="0"/>
                <a:ea typeface="Arial Narrow" pitchFamily="34" charset="-122"/>
                <a:cs typeface="Arial Narrow" pitchFamily="34" charset="-120"/>
              </a:rPr>
              <a:t>WHY THE TEST SCORE DROPS: THE DATA</a:t>
            </a:r>
            <a:endParaRPr lang="en-US" sz="2400" dirty="0"/>
          </a:p>
        </p:txBody>
      </p:sp>
      <p:pic>
        <p:nvPicPr>
          <p:cNvPr id="4" name="Image 0" descr="class_distribution.png">    </p:cNvPr>
          <p:cNvPicPr>
            <a:picLocks noChangeAspect="1"/>
          </p:cNvPicPr>
          <p:nvPr/>
        </p:nvPicPr>
        <p:blipFill>
          <a:blip r:embed="rId1"/>
          <a:stretch>
            <a:fillRect/>
          </a:stretch>
        </p:blipFill>
        <p:spPr>
          <a:xfrm>
            <a:off x="457200" y="1234440"/>
            <a:ext cx="6035040" cy="3307413"/>
          </a:xfrm>
          <a:prstGeom prst="rect">
            <a:avLst/>
          </a:prstGeom>
        </p:spPr>
      </p:pic>
      <p:sp>
        <p:nvSpPr>
          <p:cNvPr id="5" name="Text 1"/>
          <p:cNvSpPr txBox="1"/>
          <p:nvPr/>
        </p:nvSpPr>
        <p:spPr>
          <a:xfrm>
            <a:off x="6858000" y="1325880"/>
            <a:ext cx="4892040" cy="23774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404040"/>
                </a:solidFill>
              </a:rPr>
              <a:t>digits.csv: zero 8s</a:t>
            </a:r>
            <a:endParaRPr lang="en-US" sz="1700" dirty="0"/>
          </a:p>
          <a:p>
            <a:pPr marL="342900" indent="-342900">
              <a:spcAft>
                <a:spcPts val="600"/>
              </a:spcAft>
              <a:buSzPct val="100000"/>
              <a:buChar char="•"/>
            </a:pPr>
            <a:r>
              <a:rPr lang="en-US" sz="1700" dirty="0">
                <a:solidFill>
                  <a:srgbClr val="404040"/>
                </a:solidFill>
              </a:rPr>
              <a:t>Only 271 fives (≈ 2 %)</a:t>
            </a:r>
            <a:endParaRPr lang="en-US" sz="1700" dirty="0"/>
          </a:p>
          <a:p>
            <a:pPr marL="342900" indent="-342900">
              <a:spcAft>
                <a:spcPts val="600"/>
              </a:spcAft>
              <a:buSzPct val="100000"/>
              <a:buChar char="•"/>
            </a:pPr>
            <a:r>
              <a:rPr lang="en-US" sz="1700" dirty="0">
                <a:solidFill>
                  <a:srgbClr val="404040"/>
                </a:solidFill>
              </a:rPr>
              <a:t>Test set: ≈ 10 % per digit</a:t>
            </a:r>
            <a:endParaRPr lang="en-US" sz="1700" dirty="0"/>
          </a:p>
          <a:p>
            <a:pPr marL="342900" indent="-342900">
              <a:spcAft>
                <a:spcPts val="600"/>
              </a:spcAft>
              <a:buSzPct val="100000"/>
              <a:buChar char="•"/>
            </a:pPr>
            <a:r>
              <a:rPr lang="en-US" sz="1700" dirty="0">
                <a:solidFill>
                  <a:srgbClr val="404040"/>
                </a:solidFill>
              </a:rPr>
              <a:t>Unseen 8s → mostly predicted as 3</a:t>
            </a:r>
            <a:endParaRPr lang="en-US" sz="1700" dirty="0"/>
          </a:p>
          <a:p>
            <a:pPr marL="342900" indent="-342900">
              <a:spcAft>
                <a:spcPts val="600"/>
              </a:spcAft>
              <a:buSzPct val="100000"/>
              <a:buChar char="•"/>
            </a:pPr>
            <a:r>
              <a:rPr lang="en-US" sz="1700" dirty="0">
                <a:solidFill>
                  <a:srgbClr val="404040"/>
                </a:solidFill>
              </a:rPr>
              <a:t>Fix = more data, not more tuning → Exercise 3</a:t>
            </a:r>
            <a:endParaRPr lang="en-US" sz="1700" dirty="0"/>
          </a:p>
        </p:txBody>
      </p:sp>
      <p:pic>
        <p:nvPicPr>
          <p:cNvPr id="6" name="Image 1" descr="misclassified_eights.png">    </p:cNvPr>
          <p:cNvPicPr>
            <a:picLocks noChangeAspect="1"/>
          </p:cNvPicPr>
          <p:nvPr/>
        </p:nvPicPr>
        <p:blipFill>
          <a:blip r:embed="rId2"/>
          <a:stretch>
            <a:fillRect/>
          </a:stretch>
        </p:blipFill>
        <p:spPr>
          <a:xfrm>
            <a:off x="6675120" y="3840480"/>
            <a:ext cx="5074920" cy="1523357"/>
          </a:xfrm>
          <a:prstGeom prst="rect">
            <a:avLst/>
          </a:prstGeom>
        </p:spPr>
      </p:pic>
      <p:sp>
        <p:nvSpPr>
          <p:cNvPr id="25" name="Slide Number Placeholder 0"/>
          <p:cNvSpPr>
            <a:spLocks noGrp="1"/>
          </p:cNvSpPr>
          <p:nvPr>
            <p:ph type="sldNum" sz="quarter" idx="4294967295"/>
          </p:nvPr>
        </p:nvSpPr>
        <p:spPr>
          <a:xfrm>
            <a:off x="11658600" y="6217920"/>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7F7F7F"/>
                </a:solidFill>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TP3">
  <a:themeElements>
    <a:clrScheme name="TP3">
      <a:dk1>
        <a:srgbClr val="404040"/>
      </a:dk1>
      <a:lt1>
        <a:srgbClr val="FFFFFF"/>
      </a:lt1>
      <a:dk2>
        <a:srgbClr val="6B7A65"/>
      </a:dk2>
      <a:lt2>
        <a:srgbClr val="EEF0EC"/>
      </a:lt2>
      <a:accent1>
        <a:srgbClr val="6B7A65"/>
      </a:accent1>
      <a:accent2>
        <a:srgbClr val="2A78D6"/>
      </a:accent2>
      <a:accent3>
        <a:srgbClr val="EB6834"/>
      </a:accent3>
      <a:accent4>
        <a:srgbClr val="1BAF7A"/>
      </a:accent4>
      <a:accent5>
        <a:srgbClr val="A5A5A5"/>
      </a:accent5>
      <a:accent6>
        <a:srgbClr val="52514E"/>
      </a:accent6>
      <a:hlink>
        <a:srgbClr val="2A78D6"/>
      </a:hlink>
      <a:folHlink>
        <a:srgbClr val="6B7A65"/>
      </a:folHlink>
    </a:clrScheme>
    <a:fontScheme name="TP3">
      <a:majorFont>
        <a:latin typeface="Arial Narr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2026-10-05T14:42:33Z</dcterms:created>
  <dcterms:modified xsi:type="dcterms:W3CDTF">2026-10-05T14:42:33Z</dcterms:modified>
</cp:coreProperties>
</file>